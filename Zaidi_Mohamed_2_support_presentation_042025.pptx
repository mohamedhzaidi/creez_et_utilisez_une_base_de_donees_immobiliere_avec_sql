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85" r:id="rId4"/>
    <p:sldId id="258" r:id="rId5"/>
    <p:sldId id="260" r:id="rId6"/>
    <p:sldId id="261" r:id="rId7"/>
    <p:sldId id="262" r:id="rId8"/>
    <p:sldId id="276" r:id="rId9"/>
    <p:sldId id="277" r:id="rId10"/>
    <p:sldId id="275" r:id="rId11"/>
    <p:sldId id="286" r:id="rId12"/>
    <p:sldId id="279" r:id="rId13"/>
    <p:sldId id="263" r:id="rId14"/>
    <p:sldId id="264" r:id="rId15"/>
    <p:sldId id="287" r:id="rId16"/>
    <p:sldId id="265" r:id="rId17"/>
    <p:sldId id="288" r:id="rId18"/>
    <p:sldId id="266" r:id="rId19"/>
    <p:sldId id="289" r:id="rId20"/>
    <p:sldId id="267" r:id="rId21"/>
    <p:sldId id="268" r:id="rId22"/>
    <p:sldId id="290" r:id="rId23"/>
    <p:sldId id="269" r:id="rId24"/>
    <p:sldId id="270" r:id="rId25"/>
    <p:sldId id="291" r:id="rId26"/>
    <p:sldId id="271" r:id="rId27"/>
    <p:sldId id="281" r:id="rId28"/>
    <p:sldId id="272" r:id="rId29"/>
    <p:sldId id="292" r:id="rId30"/>
    <p:sldId id="273" r:id="rId31"/>
    <p:sldId id="282" r:id="rId32"/>
    <p:sldId id="293" r:id="rId33"/>
    <p:sldId id="284" r:id="rId34"/>
    <p:sldId id="283"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fr-FR"/>
              <a:t>Modifiez le style du titre</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31067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350969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fr-FR"/>
              <a:t>Modifiez le style du titre</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BCAD085-E8A6-8845-BD4E-CB4CCA059FC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338054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4108460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32813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7/29/2025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4054377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369312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fr-FR"/>
              <a:t>Modifiez le style du titre</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CAD085-E8A6-8845-BD4E-CB4CCA059FC4}"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4178680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fr-FR"/>
              <a:t>Modifiez le style du titre</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CAD085-E8A6-8845-BD4E-CB4CCA059FC4}"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71806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fr-FR"/>
              <a:t>Modifiez le style du titre</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CAD085-E8A6-8845-BD4E-CB4CCA059FC4}"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254118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fr-FR"/>
              <a:t>Modifiez le style du titre</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CAD085-E8A6-8845-BD4E-CB4CCA059FC4}"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7993087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fr-FR"/>
              <a:t>Modifiez le style du titre</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CAD085-E8A6-8845-BD4E-CB4CCA059FC4}"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6716795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fr-FR"/>
              <a:t>Modifiez le style du titre</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CAD085-E8A6-8845-BD4E-CB4CCA059FC4}"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9885819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fr-FR"/>
              <a:t>Modifiez le style du titre</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5BCAD085-E8A6-8845-BD4E-CB4CCA059FC4}" type="datetimeFigureOut">
              <a:rPr lang="en-US" smtClean="0"/>
              <a:t>7/29/2025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5418606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fr-FR"/>
              <a:t>Modifiez le style du titre</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5BCAD085-E8A6-8845-BD4E-CB4CCA059FC4}" type="datetimeFigureOut">
              <a:rPr lang="en-US" smtClean="0"/>
              <a:t>7/29/2025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8360247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1623251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864660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BCAD085-E8A6-8845-BD4E-CB4CCA059FC4}" type="datetimeFigureOut">
              <a:rPr lang="en-US" smtClean="0"/>
              <a:t>7/29/2025</a:t>
            </a:fld>
            <a:endParaRPr lang="en-US"/>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1FF6DA9-008F-8B48-92A6-B652298478BF}" type="slidenum">
              <a:rPr lang="en-US" smtClean="0"/>
              <a:t>‹N°›</a:t>
            </a:fld>
            <a:endParaRPr lang="en-US"/>
          </a:p>
        </p:txBody>
      </p:sp>
      <p:sp>
        <p:nvSpPr>
          <p:cNvPr id="8" name="ZoneTexte 7">
            <a:extLst>
              <a:ext uri="{FF2B5EF4-FFF2-40B4-BE49-F238E27FC236}">
                <a16:creationId xmlns:a16="http://schemas.microsoft.com/office/drawing/2014/main" id="{D2D0BDF4-4363-7858-5A5A-6B9CF6CC7279}"/>
              </a:ext>
            </a:extLst>
          </p:cNvPr>
          <p:cNvSpPr txBox="1"/>
          <p:nvPr userDrawn="1">
            <p:extLst>
              <p:ext uri="{1162E1C5-73C7-4A58-AE30-91384D911F3F}">
                <p184:classification xmlns:p184="http://schemas.microsoft.com/office/powerpoint/2018/4/main" val="ftr"/>
              </p:ext>
            </p:extLst>
          </p:nvPr>
        </p:nvSpPr>
        <p:spPr>
          <a:xfrm>
            <a:off x="4125913" y="6672580"/>
            <a:ext cx="920750" cy="121920"/>
          </a:xfrm>
          <a:prstGeom prst="rect">
            <a:avLst/>
          </a:prstGeom>
        </p:spPr>
        <p:txBody>
          <a:bodyPr horzOverflow="overflow" lIns="0" tIns="0" rIns="0" bIns="0">
            <a:spAutoFit/>
          </a:bodyPr>
          <a:lstStyle/>
          <a:p>
            <a:pPr algn="l"/>
            <a:r>
              <a:rPr lang="fr-FR" sz="800">
                <a:solidFill>
                  <a:srgbClr val="ED7D31"/>
                </a:solidFill>
                <a:latin typeface="Helvetica 75 Bold" panose="020B0804020202020204" pitchFamily="34" charset="0"/>
              </a:rPr>
              <a:t>Orange Restricted</a:t>
            </a:r>
          </a:p>
        </p:txBody>
      </p:sp>
    </p:spTree>
    <p:extLst>
      <p:ext uri="{BB962C8B-B14F-4D97-AF65-F5344CB8AC3E}">
        <p14:creationId xmlns:p14="http://schemas.microsoft.com/office/powerpoint/2010/main" val="340934465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jpe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46343" y="835383"/>
            <a:ext cx="2537124" cy="3499549"/>
          </a:xfrm>
        </p:spPr>
        <p:txBody>
          <a:bodyPr>
            <a:normAutofit/>
          </a:bodyPr>
          <a:lstStyle/>
          <a:p>
            <a:pPr algn="l"/>
            <a:r>
              <a:rPr lang="fr-FR" sz="3400" dirty="0"/>
              <a:t>Créez et utilisez une base de données immobilière avec SQL</a:t>
            </a:r>
          </a:p>
        </p:txBody>
      </p:sp>
      <p:sp>
        <p:nvSpPr>
          <p:cNvPr id="3" name="Subtitle 2"/>
          <p:cNvSpPr>
            <a:spLocks noGrp="1"/>
          </p:cNvSpPr>
          <p:nvPr>
            <p:ph type="subTitle" idx="1"/>
          </p:nvPr>
        </p:nvSpPr>
        <p:spPr>
          <a:xfrm>
            <a:off x="646341" y="4334933"/>
            <a:ext cx="2537124" cy="1185333"/>
          </a:xfrm>
        </p:spPr>
        <p:txBody>
          <a:bodyPr>
            <a:normAutofit/>
          </a:bodyPr>
          <a:lstStyle/>
          <a:p>
            <a:pPr algn="l"/>
            <a:r>
              <a:rPr lang="fr-FR" dirty="0"/>
              <a:t>Zaidi Mohamed</a:t>
            </a:r>
          </a:p>
        </p:txBody>
      </p:sp>
      <p:pic>
        <p:nvPicPr>
          <p:cNvPr id="9" name="Picture 8">
            <a:extLst>
              <a:ext uri="{FF2B5EF4-FFF2-40B4-BE49-F238E27FC236}">
                <a16:creationId xmlns:a16="http://schemas.microsoft.com/office/drawing/2014/main" id="{08187575-5CB4-477B-AA47-020C6D2A786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3414712" y="1"/>
            <a:ext cx="5729288" cy="6858000"/>
          </a:xfrm>
          <a:prstGeom prst="rect">
            <a:avLst/>
          </a:prstGeom>
        </p:spPr>
      </p:pic>
      <p:pic>
        <p:nvPicPr>
          <p:cNvPr id="11" name="Picture 10">
            <a:extLst>
              <a:ext uri="{FF2B5EF4-FFF2-40B4-BE49-F238E27FC236}">
                <a16:creationId xmlns:a16="http://schemas.microsoft.com/office/drawing/2014/main" id="{EE585F70-7C5D-424E-A182-39507AF48A0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5626101" y="1"/>
            <a:ext cx="3517899" cy="6858000"/>
          </a:xfrm>
          <a:prstGeom prst="rect">
            <a:avLst/>
          </a:prstGeom>
        </p:spPr>
      </p:pic>
      <p:pic>
        <p:nvPicPr>
          <p:cNvPr id="5" name="Picture 4" descr="Vue de dessus des cubes reliés par des lignes noires">
            <a:extLst>
              <a:ext uri="{FF2B5EF4-FFF2-40B4-BE49-F238E27FC236}">
                <a16:creationId xmlns:a16="http://schemas.microsoft.com/office/drawing/2014/main" id="{3D870A2A-F33F-71C3-44AA-9C12CEA2CCF4}"/>
              </a:ext>
            </a:extLst>
          </p:cNvPr>
          <p:cNvPicPr>
            <a:picLocks noChangeAspect="1"/>
          </p:cNvPicPr>
          <p:nvPr/>
        </p:nvPicPr>
        <p:blipFill>
          <a:blip r:embed="rId4"/>
          <a:srcRect l="24048" r="14127"/>
          <a:stretch/>
        </p:blipFill>
        <p:spPr>
          <a:xfrm>
            <a:off x="3490722" y="10"/>
            <a:ext cx="5653278" cy="68579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59620" y="609600"/>
            <a:ext cx="4483554" cy="970450"/>
          </a:xfrm>
        </p:spPr>
        <p:txBody>
          <a:bodyPr>
            <a:normAutofit/>
          </a:bodyPr>
          <a:lstStyle/>
          <a:p>
            <a:r>
              <a:rPr dirty="0" err="1"/>
              <a:t>Contexte</a:t>
            </a:r>
            <a:r>
              <a:rPr dirty="0"/>
              <a:t> du </a:t>
            </a:r>
            <a:r>
              <a:rPr dirty="0" err="1"/>
              <a:t>projet</a:t>
            </a:r>
            <a:endParaRPr dirty="0"/>
          </a:p>
        </p:txBody>
      </p:sp>
      <p:pic>
        <p:nvPicPr>
          <p:cNvPr id="5" name="Picture 4" descr="Loupe montrant des performances en baisse">
            <a:extLst>
              <a:ext uri="{FF2B5EF4-FFF2-40B4-BE49-F238E27FC236}">
                <a16:creationId xmlns:a16="http://schemas.microsoft.com/office/drawing/2014/main" id="{C7A66723-6CBB-38D4-05C4-D99267AF80C8}"/>
              </a:ext>
            </a:extLst>
          </p:cNvPr>
          <p:cNvPicPr>
            <a:picLocks noChangeAspect="1"/>
          </p:cNvPicPr>
          <p:nvPr/>
        </p:nvPicPr>
        <p:blipFill>
          <a:blip r:embed="rId3"/>
          <a:srcRect l="26753" r="39874" b="-2"/>
          <a:stretch/>
        </p:blipFill>
        <p:spPr>
          <a:xfrm>
            <a:off x="-7986" y="1"/>
            <a:ext cx="3428736" cy="6858000"/>
          </a:xfrm>
          <a:prstGeom prst="rect">
            <a:avLst/>
          </a:prstGeom>
        </p:spPr>
      </p:pic>
      <p:sp>
        <p:nvSpPr>
          <p:cNvPr id="3" name="Content Placeholder 2"/>
          <p:cNvSpPr>
            <a:spLocks noGrp="1"/>
          </p:cNvSpPr>
          <p:nvPr>
            <p:ph idx="1"/>
          </p:nvPr>
        </p:nvSpPr>
        <p:spPr>
          <a:xfrm>
            <a:off x="3859620" y="1828801"/>
            <a:ext cx="4483554" cy="3866048"/>
          </a:xfrm>
        </p:spPr>
        <p:txBody>
          <a:bodyPr anchor="ctr">
            <a:normAutofit/>
          </a:bodyPr>
          <a:lstStyle/>
          <a:p>
            <a:pPr>
              <a:buClr>
                <a:srgbClr val="5BA3F4"/>
              </a:buClr>
            </a:pPr>
            <a:r>
              <a:rPr dirty="0"/>
              <a:t>Objectif : </a:t>
            </a:r>
            <a:r>
              <a:rPr dirty="0" err="1"/>
              <a:t>Intégrer</a:t>
            </a:r>
            <a:r>
              <a:rPr dirty="0"/>
              <a:t> et </a:t>
            </a:r>
            <a:r>
              <a:rPr dirty="0" err="1"/>
              <a:t>analyser</a:t>
            </a:r>
            <a:r>
              <a:rPr dirty="0"/>
              <a:t> les données </a:t>
            </a:r>
            <a:r>
              <a:rPr dirty="0" err="1"/>
              <a:t>immobilières</a:t>
            </a:r>
            <a:r>
              <a:rPr dirty="0"/>
              <a:t> </a:t>
            </a:r>
            <a:r>
              <a:rPr lang="fr-FR" dirty="0"/>
              <a:t>en France</a:t>
            </a:r>
          </a:p>
          <a:p>
            <a:pPr lvl="1">
              <a:buClr>
                <a:srgbClr val="5BA3F4"/>
              </a:buClr>
            </a:pPr>
            <a:r>
              <a:rPr dirty="0"/>
              <a:t>Données DVF (</a:t>
            </a:r>
            <a:r>
              <a:rPr dirty="0" err="1"/>
              <a:t>Demande</a:t>
            </a:r>
            <a:r>
              <a:rPr dirty="0"/>
              <a:t> de </a:t>
            </a:r>
            <a:r>
              <a:rPr dirty="0" err="1"/>
              <a:t>Valeurs</a:t>
            </a:r>
            <a:r>
              <a:rPr dirty="0"/>
              <a:t> </a:t>
            </a:r>
            <a:r>
              <a:rPr dirty="0" err="1"/>
              <a:t>Foncières</a:t>
            </a:r>
            <a:r>
              <a:rPr dirty="0"/>
              <a:t>)</a:t>
            </a:r>
            <a:endParaRPr lang="fr-FR" dirty="0"/>
          </a:p>
          <a:p>
            <a:pPr lvl="1">
              <a:buClr>
                <a:srgbClr val="5BA3F4"/>
              </a:buClr>
            </a:pPr>
            <a:r>
              <a:rPr dirty="0"/>
              <a:t>Données INSEE (</a:t>
            </a:r>
            <a:r>
              <a:rPr dirty="0" err="1"/>
              <a:t>recensement</a:t>
            </a:r>
            <a:r>
              <a:rPr dirty="0"/>
              <a:t> population)</a:t>
            </a:r>
            <a:endParaRPr lang="fr-FR" dirty="0"/>
          </a:p>
          <a:p>
            <a:pPr lvl="1">
              <a:buClr>
                <a:srgbClr val="5BA3F4"/>
              </a:buClr>
            </a:pPr>
            <a:r>
              <a:rPr dirty="0"/>
              <a:t>Données </a:t>
            </a:r>
            <a:r>
              <a:rPr dirty="0" err="1"/>
              <a:t>géographiques</a:t>
            </a:r>
            <a:r>
              <a:rPr dirty="0"/>
              <a:t> (communes, </a:t>
            </a:r>
            <a:r>
              <a:rPr dirty="0" err="1"/>
              <a:t>régions</a:t>
            </a:r>
            <a:r>
              <a:rPr dirty="0"/>
              <a:t>, etc.)</a:t>
            </a:r>
            <a:endParaRPr lang="fr-FR" dirty="0"/>
          </a:p>
        </p:txBody>
      </p:sp>
      <p:pic>
        <p:nvPicPr>
          <p:cNvPr id="9" name="Picture 8">
            <a:extLst>
              <a:ext uri="{FF2B5EF4-FFF2-40B4-BE49-F238E27FC236}">
                <a16:creationId xmlns:a16="http://schemas.microsoft.com/office/drawing/2014/main" id="{559DF61F-9058-49C9-8F75-DC501F983B0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964" r="2807" b="1446"/>
          <a:stretch/>
        </p:blipFill>
        <p:spPr>
          <a:xfrm>
            <a:off x="-7986" y="1"/>
            <a:ext cx="351789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B62707A-03D6-8DAF-88D8-5DB6F192A5BD}"/>
              </a:ext>
            </a:extLst>
          </p:cNvPr>
          <p:cNvSpPr txBox="1"/>
          <p:nvPr/>
        </p:nvSpPr>
        <p:spPr>
          <a:xfrm>
            <a:off x="573931" y="617866"/>
            <a:ext cx="7042825" cy="584775"/>
          </a:xfrm>
          <a:prstGeom prst="rect">
            <a:avLst/>
          </a:prstGeom>
          <a:noFill/>
        </p:spPr>
        <p:txBody>
          <a:bodyPr wrap="square">
            <a:spAutoFit/>
          </a:bodyPr>
          <a:lstStyle/>
          <a:p>
            <a:r>
              <a:rPr lang="fr-FR" sz="3200" dirty="0"/>
              <a:t>Travaux demandés avant la réunion :</a:t>
            </a:r>
          </a:p>
        </p:txBody>
      </p:sp>
      <p:sp>
        <p:nvSpPr>
          <p:cNvPr id="5" name="ZoneTexte 4">
            <a:extLst>
              <a:ext uri="{FF2B5EF4-FFF2-40B4-BE49-F238E27FC236}">
                <a16:creationId xmlns:a16="http://schemas.microsoft.com/office/drawing/2014/main" id="{9F83C364-9AE6-29F3-38DD-3034018498D5}"/>
              </a:ext>
            </a:extLst>
          </p:cNvPr>
          <p:cNvSpPr txBox="1"/>
          <p:nvPr/>
        </p:nvSpPr>
        <p:spPr>
          <a:xfrm>
            <a:off x="690663" y="1932537"/>
            <a:ext cx="7675123" cy="3693319"/>
          </a:xfrm>
          <a:prstGeom prst="rect">
            <a:avLst/>
          </a:prstGeom>
          <a:noFill/>
        </p:spPr>
        <p:txBody>
          <a:bodyPr wrap="square">
            <a:spAutoFit/>
          </a:bodyPr>
          <a:lstStyle/>
          <a:p>
            <a:pPr>
              <a:buFont typeface="+mj-lt"/>
              <a:buAutoNum type="arabicPeriod"/>
            </a:pPr>
            <a:r>
              <a:rPr lang="fr-FR" b="1" dirty="0"/>
              <a:t> Dictionnaire des données</a:t>
            </a:r>
            <a:br>
              <a:rPr lang="fr-FR" dirty="0"/>
            </a:br>
            <a:r>
              <a:rPr lang="fr-FR" dirty="0"/>
              <a:t>→ Remplir le modèle pour les jeux de données reçus</a:t>
            </a:r>
          </a:p>
          <a:p>
            <a:pPr>
              <a:buFont typeface="+mj-lt"/>
              <a:buAutoNum type="arabicPeriod"/>
            </a:pPr>
            <a:endParaRPr lang="fr-FR" dirty="0"/>
          </a:p>
          <a:p>
            <a:pPr>
              <a:buFont typeface="+mj-lt"/>
              <a:buAutoNum type="arabicPeriod"/>
            </a:pPr>
            <a:r>
              <a:rPr lang="fr-FR" b="1" dirty="0"/>
              <a:t> Schéma relationnel à jour</a:t>
            </a:r>
            <a:br>
              <a:rPr lang="fr-FR" dirty="0"/>
            </a:br>
            <a:r>
              <a:rPr lang="fr-FR" dirty="0"/>
              <a:t>→ Intégrer les données sur la </a:t>
            </a:r>
            <a:r>
              <a:rPr lang="fr-FR" b="1" dirty="0"/>
              <a:t>région</a:t>
            </a:r>
            <a:r>
              <a:rPr lang="fr-FR" dirty="0"/>
              <a:t> et la </a:t>
            </a:r>
            <a:r>
              <a:rPr lang="fr-FR" b="1" dirty="0"/>
              <a:t>population</a:t>
            </a:r>
            <a:br>
              <a:rPr lang="fr-FR" dirty="0"/>
            </a:br>
            <a:r>
              <a:rPr lang="fr-FR" dirty="0"/>
              <a:t>→ Respecter la </a:t>
            </a:r>
            <a:r>
              <a:rPr lang="fr-FR" b="1" dirty="0"/>
              <a:t>3NF</a:t>
            </a:r>
            <a:r>
              <a:rPr lang="fr-FR" dirty="0"/>
              <a:t> (forme normale 3)</a:t>
            </a:r>
          </a:p>
          <a:p>
            <a:pPr>
              <a:buFont typeface="+mj-lt"/>
              <a:buAutoNum type="arabicPeriod"/>
            </a:pPr>
            <a:endParaRPr lang="fr-FR" dirty="0"/>
          </a:p>
          <a:p>
            <a:pPr>
              <a:buFont typeface="+mj-lt"/>
              <a:buAutoNum type="arabicPeriod"/>
            </a:pPr>
            <a:r>
              <a:rPr lang="fr-FR" b="1" dirty="0"/>
              <a:t> Conformité RGPD</a:t>
            </a:r>
            <a:br>
              <a:rPr lang="fr-FR" dirty="0"/>
            </a:br>
            <a:r>
              <a:rPr lang="fr-FR" dirty="0"/>
              <a:t>→ Vérifier l'absence de données personnelles</a:t>
            </a:r>
            <a:br>
              <a:rPr lang="fr-FR" dirty="0"/>
            </a:br>
            <a:r>
              <a:rPr lang="fr-FR" dirty="0"/>
              <a:t>→ Garantir sécurité et conservation adaptée</a:t>
            </a:r>
          </a:p>
          <a:p>
            <a:pPr>
              <a:buFont typeface="+mj-lt"/>
              <a:buAutoNum type="arabicPeriod"/>
            </a:pPr>
            <a:endParaRPr lang="fr-FR" dirty="0"/>
          </a:p>
          <a:p>
            <a:pPr>
              <a:buFont typeface="+mj-lt"/>
              <a:buAutoNum type="arabicPeriod"/>
            </a:pPr>
            <a:r>
              <a:rPr lang="fr-FR" b="1" dirty="0"/>
              <a:t> Support de présentation</a:t>
            </a:r>
            <a:br>
              <a:rPr lang="fr-FR" dirty="0"/>
            </a:br>
            <a:r>
              <a:rPr lang="fr-FR" dirty="0"/>
              <a:t>→ Présenter les travaux, choix de modélisation et les requêtes SQL</a:t>
            </a:r>
          </a:p>
        </p:txBody>
      </p:sp>
    </p:spTree>
    <p:extLst>
      <p:ext uri="{BB962C8B-B14F-4D97-AF65-F5344CB8AC3E}">
        <p14:creationId xmlns:p14="http://schemas.microsoft.com/office/powerpoint/2010/main" val="1158341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59620" y="609600"/>
            <a:ext cx="4483554" cy="970450"/>
          </a:xfrm>
        </p:spPr>
        <p:txBody>
          <a:bodyPr>
            <a:normAutofit/>
          </a:bodyPr>
          <a:lstStyle/>
          <a:p>
            <a:pPr>
              <a:lnSpc>
                <a:spcPct val="90000"/>
              </a:lnSpc>
            </a:pPr>
            <a:r>
              <a:rPr lang="fr-FR" sz="3100" dirty="0"/>
              <a:t>Stratégie de sauvegarde &amp; conformité RGPD</a:t>
            </a:r>
          </a:p>
        </p:txBody>
      </p:sp>
      <p:pic>
        <p:nvPicPr>
          <p:cNvPr id="5" name="Picture 4" descr="Organisateurs de couleurs différentes">
            <a:extLst>
              <a:ext uri="{FF2B5EF4-FFF2-40B4-BE49-F238E27FC236}">
                <a16:creationId xmlns:a16="http://schemas.microsoft.com/office/drawing/2014/main" id="{C1DC1B18-B9F6-2BD1-E655-DE91D7771E2C}"/>
              </a:ext>
            </a:extLst>
          </p:cNvPr>
          <p:cNvPicPr>
            <a:picLocks noChangeAspect="1"/>
          </p:cNvPicPr>
          <p:nvPr/>
        </p:nvPicPr>
        <p:blipFill>
          <a:blip r:embed="rId3"/>
          <a:srcRect l="34929" r="34823" b="1"/>
          <a:stretch/>
        </p:blipFill>
        <p:spPr>
          <a:xfrm>
            <a:off x="-7986" y="1"/>
            <a:ext cx="3428736" cy="6858000"/>
          </a:xfrm>
          <a:prstGeom prst="rect">
            <a:avLst/>
          </a:prstGeom>
        </p:spPr>
      </p:pic>
      <p:sp>
        <p:nvSpPr>
          <p:cNvPr id="3" name="Content Placeholder 2"/>
          <p:cNvSpPr>
            <a:spLocks noGrp="1"/>
          </p:cNvSpPr>
          <p:nvPr>
            <p:ph idx="1"/>
          </p:nvPr>
        </p:nvSpPr>
        <p:spPr>
          <a:xfrm>
            <a:off x="3859620" y="1927124"/>
            <a:ext cx="4483554" cy="3866048"/>
          </a:xfrm>
        </p:spPr>
        <p:txBody>
          <a:bodyPr anchor="ctr">
            <a:normAutofit/>
          </a:bodyPr>
          <a:lstStyle/>
          <a:p>
            <a:pPr>
              <a:buNone/>
            </a:pPr>
            <a:r>
              <a:rPr lang="fr-FR" b="1" dirty="0"/>
              <a:t>Conformité RGPD </a:t>
            </a:r>
          </a:p>
          <a:p>
            <a:pPr>
              <a:buNone/>
            </a:pPr>
            <a:endParaRPr lang="fr-FR" dirty="0"/>
          </a:p>
          <a:p>
            <a:pPr>
              <a:buFont typeface="+mj-lt"/>
              <a:buAutoNum type="arabicPeriod"/>
            </a:pPr>
            <a:r>
              <a:rPr lang="fr-FR" dirty="0"/>
              <a:t>Nos tables (Bien, Vente, Commune, Région) ne contiennent aucune donnée à caractère personnel</a:t>
            </a:r>
          </a:p>
          <a:p>
            <a:pPr>
              <a:buFont typeface="+mj-lt"/>
              <a:buAutoNum type="arabicPeriod"/>
            </a:pPr>
            <a:r>
              <a:rPr lang="fr-FR" dirty="0"/>
              <a:t>Stockage sécurisé et chiffré de l’intégralité des bases de données</a:t>
            </a:r>
          </a:p>
          <a:p>
            <a:pPr>
              <a:buFont typeface="+mj-lt"/>
              <a:buAutoNum type="arabicPeriod"/>
            </a:pPr>
            <a:r>
              <a:rPr lang="fr-FR" dirty="0"/>
              <a:t>Conservation adaptée aux besoins projet, sans durée excessive ni archivage inutile</a:t>
            </a:r>
          </a:p>
          <a:p>
            <a:pPr>
              <a:buClr>
                <a:srgbClr val="D9AC64"/>
              </a:buClr>
            </a:pPr>
            <a:endParaRPr lang="fr-FR" dirty="0"/>
          </a:p>
        </p:txBody>
      </p:sp>
      <p:pic>
        <p:nvPicPr>
          <p:cNvPr id="9" name="Picture 8">
            <a:extLst>
              <a:ext uri="{FF2B5EF4-FFF2-40B4-BE49-F238E27FC236}">
                <a16:creationId xmlns:a16="http://schemas.microsoft.com/office/drawing/2014/main" id="{559DF61F-9058-49C9-8F75-DC501F983B0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964" r="2807" b="1446"/>
          <a:stretch/>
        </p:blipFill>
        <p:spPr>
          <a:xfrm>
            <a:off x="-7986" y="1"/>
            <a:ext cx="3517898"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31987" y="5162816"/>
            <a:ext cx="7080026" cy="1059644"/>
          </a:xfrm>
        </p:spPr>
        <p:txBody>
          <a:bodyPr vert="horz" lIns="91440" tIns="45720" rIns="91440" bIns="45720" rtlCol="0" anchor="b">
            <a:normAutofit/>
          </a:bodyPr>
          <a:lstStyle/>
          <a:p>
            <a:pPr>
              <a:lnSpc>
                <a:spcPct val="90000"/>
              </a:lnSpc>
            </a:pPr>
            <a:r>
              <a:rPr lang="en-US" sz="3600" dirty="0"/>
              <a:t>Extrait du </a:t>
            </a:r>
            <a:r>
              <a:rPr lang="en-US" sz="3600" dirty="0" err="1"/>
              <a:t>dictionnaire</a:t>
            </a:r>
            <a:r>
              <a:rPr lang="en-US" sz="3600" dirty="0"/>
              <a:t> des données</a:t>
            </a:r>
          </a:p>
        </p:txBody>
      </p:sp>
      <p:pic>
        <p:nvPicPr>
          <p:cNvPr id="15" name="Picture 14">
            <a:extLst>
              <a:ext uri="{FF2B5EF4-FFF2-40B4-BE49-F238E27FC236}">
                <a16:creationId xmlns:a16="http://schemas.microsoft.com/office/drawing/2014/main" id="{9B0DB875-49E3-4B9D-8AAE-D81A127B664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760412" y="547807"/>
            <a:ext cx="7606349" cy="3816806"/>
          </a:xfrm>
          <a:prstGeom prst="rect">
            <a:avLst/>
          </a:prstGeom>
        </p:spPr>
      </p:pic>
      <p:pic>
        <p:nvPicPr>
          <p:cNvPr id="11" name="Image 10">
            <a:extLst>
              <a:ext uri="{FF2B5EF4-FFF2-40B4-BE49-F238E27FC236}">
                <a16:creationId xmlns:a16="http://schemas.microsoft.com/office/drawing/2014/main" id="{8235D8D3-B9F3-DDE9-319F-3C08164B268B}"/>
              </a:ext>
            </a:extLst>
          </p:cNvPr>
          <p:cNvPicPr>
            <a:picLocks noChangeAspect="1"/>
          </p:cNvPicPr>
          <p:nvPr/>
        </p:nvPicPr>
        <p:blipFill>
          <a:blip r:embed="rId4"/>
          <a:stretch>
            <a:fillRect/>
          </a:stretch>
        </p:blipFill>
        <p:spPr>
          <a:xfrm>
            <a:off x="270387" y="396592"/>
            <a:ext cx="8603226" cy="41192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err="1"/>
              <a:t>Schéma</a:t>
            </a:r>
            <a:r>
              <a:rPr dirty="0"/>
              <a:t> </a:t>
            </a:r>
            <a:r>
              <a:rPr dirty="0" err="1"/>
              <a:t>relationnel</a:t>
            </a:r>
            <a:r>
              <a:rPr dirty="0"/>
              <a:t> </a:t>
            </a:r>
            <a:r>
              <a:rPr dirty="0" err="1"/>
              <a:t>normalisé</a:t>
            </a:r>
            <a:r>
              <a:rPr dirty="0"/>
              <a:t> (3NF)</a:t>
            </a:r>
          </a:p>
        </p:txBody>
      </p:sp>
      <p:sp>
        <p:nvSpPr>
          <p:cNvPr id="3" name="ZoneTexte 2">
            <a:extLst>
              <a:ext uri="{FF2B5EF4-FFF2-40B4-BE49-F238E27FC236}">
                <a16:creationId xmlns:a16="http://schemas.microsoft.com/office/drawing/2014/main" id="{9D6FB05D-F0FF-BFBB-6C6D-7B1CAAD04E9A}"/>
              </a:ext>
            </a:extLst>
          </p:cNvPr>
          <p:cNvSpPr txBox="1"/>
          <p:nvPr/>
        </p:nvSpPr>
        <p:spPr>
          <a:xfrm>
            <a:off x="685345" y="5051913"/>
            <a:ext cx="7765323" cy="1200329"/>
          </a:xfrm>
          <a:prstGeom prst="rect">
            <a:avLst/>
          </a:prstGeom>
          <a:noFill/>
        </p:spPr>
        <p:txBody>
          <a:bodyPr wrap="square" rtlCol="0">
            <a:spAutoFit/>
          </a:bodyPr>
          <a:lstStyle/>
          <a:p>
            <a:pPr algn="ctr"/>
            <a:r>
              <a:rPr lang="fr-FR" dirty="0"/>
              <a:t>Mon schéma est en 3NF car toutes les données sont atomiques, sans redondance. Les dépendances fonctionnelles sont directement liées aux clés primaires, sans dépendance transitive. Les entités sont bien distinctes les unes des autres (biens, ventes, communes, régions)</a:t>
            </a:r>
          </a:p>
        </p:txBody>
      </p:sp>
      <p:pic>
        <p:nvPicPr>
          <p:cNvPr id="5" name="Image 4">
            <a:extLst>
              <a:ext uri="{FF2B5EF4-FFF2-40B4-BE49-F238E27FC236}">
                <a16:creationId xmlns:a16="http://schemas.microsoft.com/office/drawing/2014/main" id="{45FFCCD6-26BA-7BCE-F534-FADD7169FC0B}"/>
              </a:ext>
            </a:extLst>
          </p:cNvPr>
          <p:cNvPicPr>
            <a:picLocks noChangeAspect="1"/>
          </p:cNvPicPr>
          <p:nvPr/>
        </p:nvPicPr>
        <p:blipFill>
          <a:blip r:embed="rId2"/>
          <a:stretch>
            <a:fillRect/>
          </a:stretch>
        </p:blipFill>
        <p:spPr>
          <a:xfrm>
            <a:off x="742618" y="1502838"/>
            <a:ext cx="7658764" cy="336071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346" y="609600"/>
            <a:ext cx="4483554" cy="970450"/>
          </a:xfrm>
        </p:spPr>
        <p:txBody>
          <a:bodyPr>
            <a:normAutofit/>
          </a:bodyPr>
          <a:lstStyle/>
          <a:p>
            <a:r>
              <a:rPr lang="fr-FR" dirty="0"/>
              <a:t>Base de données</a:t>
            </a:r>
          </a:p>
        </p:txBody>
      </p:sp>
      <p:sp>
        <p:nvSpPr>
          <p:cNvPr id="3" name="Content Placeholder 2"/>
          <p:cNvSpPr>
            <a:spLocks noGrp="1"/>
          </p:cNvSpPr>
          <p:nvPr>
            <p:ph idx="1"/>
          </p:nvPr>
        </p:nvSpPr>
        <p:spPr>
          <a:xfrm>
            <a:off x="685346" y="1828801"/>
            <a:ext cx="4483554" cy="3866048"/>
          </a:xfrm>
        </p:spPr>
        <p:txBody>
          <a:bodyPr anchor="ctr">
            <a:normAutofit/>
          </a:bodyPr>
          <a:lstStyle/>
          <a:p>
            <a:pPr>
              <a:buClr>
                <a:srgbClr val="8540FF"/>
              </a:buClr>
            </a:pPr>
            <a:r>
              <a:rPr lang="fr-FR" dirty="0"/>
              <a:t>Tables créées</a:t>
            </a:r>
          </a:p>
          <a:p>
            <a:pPr lvl="1">
              <a:buClr>
                <a:srgbClr val="8540FF"/>
              </a:buClr>
            </a:pPr>
            <a:r>
              <a:rPr lang="fr-FR" dirty="0"/>
              <a:t>Bien</a:t>
            </a:r>
          </a:p>
          <a:p>
            <a:pPr lvl="1">
              <a:buClr>
                <a:srgbClr val="8540FF"/>
              </a:buClr>
            </a:pPr>
            <a:r>
              <a:rPr lang="fr-FR" dirty="0"/>
              <a:t>Vente</a:t>
            </a:r>
          </a:p>
          <a:p>
            <a:pPr lvl="1">
              <a:buClr>
                <a:srgbClr val="8540FF"/>
              </a:buClr>
            </a:pPr>
            <a:r>
              <a:rPr lang="fr-FR" dirty="0"/>
              <a:t>Commune</a:t>
            </a:r>
          </a:p>
          <a:p>
            <a:pPr lvl="1">
              <a:buClr>
                <a:srgbClr val="8540FF"/>
              </a:buClr>
            </a:pPr>
            <a:r>
              <a:rPr lang="fr-FR" dirty="0"/>
              <a:t>Région</a:t>
            </a:r>
          </a:p>
        </p:txBody>
      </p:sp>
      <p:pic>
        <p:nvPicPr>
          <p:cNvPr id="12" name="Picture 9">
            <a:extLst>
              <a:ext uri="{FF2B5EF4-FFF2-40B4-BE49-F238E27FC236}">
                <a16:creationId xmlns:a16="http://schemas.microsoft.com/office/drawing/2014/main" id="{1CF706DA-13E8-4A4F-9260-551FB8127B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5424678" y="1"/>
            <a:ext cx="3719322" cy="6858000"/>
          </a:xfrm>
          <a:prstGeom prst="rect">
            <a:avLst/>
          </a:prstGeom>
        </p:spPr>
      </p:pic>
      <p:pic>
        <p:nvPicPr>
          <p:cNvPr id="6" name="Image 5">
            <a:extLst>
              <a:ext uri="{FF2B5EF4-FFF2-40B4-BE49-F238E27FC236}">
                <a16:creationId xmlns:a16="http://schemas.microsoft.com/office/drawing/2014/main" id="{3D10362F-7064-0DAD-B16C-95970CDBE5BC}"/>
              </a:ext>
            </a:extLst>
          </p:cNvPr>
          <p:cNvPicPr>
            <a:picLocks noChangeAspect="1"/>
          </p:cNvPicPr>
          <p:nvPr/>
        </p:nvPicPr>
        <p:blipFill>
          <a:blip r:embed="rId4"/>
          <a:stretch>
            <a:fillRect/>
          </a:stretch>
        </p:blipFill>
        <p:spPr>
          <a:xfrm>
            <a:off x="4984955" y="328848"/>
            <a:ext cx="3844413" cy="62003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4AD1A476-4191-B0F5-0249-EA4F46309CF0}"/>
              </a:ext>
            </a:extLst>
          </p:cNvPr>
          <p:cNvSpPr txBox="1"/>
          <p:nvPr/>
        </p:nvSpPr>
        <p:spPr>
          <a:xfrm>
            <a:off x="83322" y="1"/>
            <a:ext cx="9060678" cy="6654642"/>
          </a:xfrm>
          <a:prstGeom prst="rect">
            <a:avLst/>
          </a:prstGeom>
          <a:noFill/>
        </p:spPr>
        <p:txBody>
          <a:bodyPr wrap="square" rtlCol="0">
            <a:spAutoFit/>
          </a:bodyPr>
          <a:lstStyle/>
          <a:p>
            <a:pPr>
              <a:lnSpc>
                <a:spcPct val="107000"/>
              </a:lnSpc>
              <a:spcAft>
                <a:spcPts val="800"/>
              </a:spcAft>
              <a:buNone/>
            </a:pPr>
            <a:r>
              <a:rPr lang="fr-FR" sz="1800" b="1" kern="100" dirty="0">
                <a:effectLst/>
                <a:ea typeface="Aptos" panose="020B0004020202020204" pitchFamily="34" charset="0"/>
                <a:cs typeface="Times New Roman" panose="02020603050405020304" pitchFamily="18" charset="0"/>
              </a:rPr>
              <a:t>Liste des tables</a:t>
            </a:r>
            <a:endParaRPr lang="fr-FR" sz="1800" kern="100" dirty="0">
              <a:effectLst/>
              <a:ea typeface="Aptos" panose="020B0004020202020204" pitchFamily="34" charset="0"/>
              <a:cs typeface="Times New Roman" panose="02020603050405020304" pitchFamily="18" charset="0"/>
            </a:endParaRPr>
          </a:p>
          <a:p>
            <a:pPr>
              <a:lnSpc>
                <a:spcPct val="107000"/>
              </a:lnSpc>
              <a:spcAft>
                <a:spcPts val="800"/>
              </a:spcAft>
              <a:buNone/>
            </a:pPr>
            <a:r>
              <a:rPr lang="fr-FR" sz="1800" b="1" kern="100" dirty="0">
                <a:effectLst/>
                <a:ea typeface="Aptos" panose="020B0004020202020204" pitchFamily="34" charset="0"/>
                <a:cs typeface="Times New Roman" panose="02020603050405020304" pitchFamily="18" charset="0"/>
              </a:rPr>
              <a:t>Table Bien</a:t>
            </a:r>
            <a:endParaRPr lang="fr-FR" sz="1800" kern="100" dirty="0">
              <a:effectLst/>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err="1">
                <a:effectLst/>
                <a:ea typeface="Aptos" panose="020B0004020202020204" pitchFamily="34" charset="0"/>
                <a:cs typeface="Times New Roman" panose="02020603050405020304" pitchFamily="18" charset="0"/>
              </a:rPr>
              <a:t>Id_bien</a:t>
            </a:r>
            <a:r>
              <a:rPr lang="fr-FR" sz="1800" kern="100" dirty="0">
                <a:effectLst/>
                <a:ea typeface="Aptos" panose="020B0004020202020204" pitchFamily="34" charset="0"/>
                <a:cs typeface="Times New Roman" panose="02020603050405020304" pitchFamily="18" charset="0"/>
              </a:rPr>
              <a:t> (INTEGER, PK) - Identifiant unique du bien </a:t>
            </a: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err="1">
                <a:effectLst/>
                <a:ea typeface="Aptos" panose="020B0004020202020204" pitchFamily="34" charset="0"/>
                <a:cs typeface="Times New Roman" panose="02020603050405020304" pitchFamily="18" charset="0"/>
              </a:rPr>
              <a:t>id_codedep_codecommune</a:t>
            </a:r>
            <a:r>
              <a:rPr lang="fr-FR" sz="1800" kern="100" dirty="0">
                <a:effectLst/>
                <a:ea typeface="Aptos" panose="020B0004020202020204" pitchFamily="34" charset="0"/>
                <a:cs typeface="Times New Roman" panose="02020603050405020304" pitchFamily="18" charset="0"/>
              </a:rPr>
              <a:t> (VARCHAR, FK -&gt;Table Commune) - Code unique de la commune </a:t>
            </a: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err="1">
                <a:effectLst/>
                <a:ea typeface="Aptos" panose="020B0004020202020204" pitchFamily="34" charset="0"/>
                <a:cs typeface="Times New Roman" panose="02020603050405020304" pitchFamily="18" charset="0"/>
              </a:rPr>
              <a:t>No_voie</a:t>
            </a:r>
            <a:r>
              <a:rPr lang="fr-FR" sz="1800" kern="100" dirty="0">
                <a:effectLst/>
                <a:ea typeface="Aptos" panose="020B0004020202020204" pitchFamily="34" charset="0"/>
                <a:cs typeface="Times New Roman" panose="02020603050405020304" pitchFamily="18" charset="0"/>
              </a:rPr>
              <a:t> (</a:t>
            </a:r>
            <a:r>
              <a:rPr lang="fr-FR" kern="100" dirty="0">
                <a:ea typeface="Aptos" panose="020B0004020202020204" pitchFamily="34" charset="0"/>
                <a:cs typeface="Times New Roman" panose="02020603050405020304" pitchFamily="18" charset="0"/>
              </a:rPr>
              <a:t>VARCHAR</a:t>
            </a:r>
            <a:r>
              <a:rPr lang="fr-FR" sz="1800" kern="100" dirty="0">
                <a:effectLst/>
                <a:ea typeface="Aptos" panose="020B0004020202020204" pitchFamily="34" charset="0"/>
                <a:cs typeface="Times New Roman" panose="02020603050405020304" pitchFamily="18" charset="0"/>
              </a:rPr>
              <a:t>) - Numéro de la voie </a:t>
            </a: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err="1">
                <a:effectLst/>
                <a:ea typeface="Aptos" panose="020B0004020202020204" pitchFamily="34" charset="0"/>
                <a:cs typeface="Times New Roman" panose="02020603050405020304" pitchFamily="18" charset="0"/>
              </a:rPr>
              <a:t>Type_voie</a:t>
            </a:r>
            <a:r>
              <a:rPr lang="fr-FR" sz="1800" kern="100" dirty="0">
                <a:effectLst/>
                <a:ea typeface="Aptos" panose="020B0004020202020204" pitchFamily="34" charset="0"/>
                <a:cs typeface="Times New Roman" panose="02020603050405020304" pitchFamily="18" charset="0"/>
              </a:rPr>
              <a:t> (VARCHAR) - Type de voie (rue, avenue, etc.)</a:t>
            </a: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a:effectLst/>
                <a:ea typeface="Aptos" panose="020B0004020202020204" pitchFamily="34" charset="0"/>
                <a:cs typeface="Times New Roman" panose="02020603050405020304" pitchFamily="18" charset="0"/>
              </a:rPr>
              <a:t>Voie</a:t>
            </a:r>
            <a:r>
              <a:rPr lang="fr-FR" sz="1800" kern="100" dirty="0">
                <a:effectLst/>
                <a:ea typeface="Aptos" panose="020B0004020202020204" pitchFamily="34" charset="0"/>
                <a:cs typeface="Times New Roman" panose="02020603050405020304" pitchFamily="18" charset="0"/>
              </a:rPr>
              <a:t> (VARCHAR) - Nom de la voie</a:t>
            </a: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err="1">
                <a:effectLst/>
                <a:ea typeface="Aptos" panose="020B0004020202020204" pitchFamily="34" charset="0"/>
                <a:cs typeface="Times New Roman" panose="02020603050405020304" pitchFamily="18" charset="0"/>
              </a:rPr>
              <a:t>Total_piece</a:t>
            </a:r>
            <a:r>
              <a:rPr lang="fr-FR" sz="1800" kern="100" dirty="0">
                <a:effectLst/>
                <a:ea typeface="Aptos" panose="020B0004020202020204" pitchFamily="34" charset="0"/>
                <a:cs typeface="Times New Roman" panose="02020603050405020304" pitchFamily="18" charset="0"/>
              </a:rPr>
              <a:t> (INTEGER) - Nombre total de pièces du bien</a:t>
            </a: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err="1">
                <a:effectLst/>
                <a:ea typeface="Aptos" panose="020B0004020202020204" pitchFamily="34" charset="0"/>
                <a:cs typeface="Times New Roman" panose="02020603050405020304" pitchFamily="18" charset="0"/>
              </a:rPr>
              <a:t>Surface_carrez</a:t>
            </a:r>
            <a:r>
              <a:rPr lang="fr-FR" sz="1800" kern="100" dirty="0">
                <a:effectLst/>
                <a:ea typeface="Aptos" panose="020B0004020202020204" pitchFamily="34" charset="0"/>
                <a:cs typeface="Times New Roman" panose="02020603050405020304" pitchFamily="18" charset="0"/>
              </a:rPr>
              <a:t> (REAL) - Surface habitable du bien en m²</a:t>
            </a: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err="1">
                <a:effectLst/>
                <a:ea typeface="Aptos" panose="020B0004020202020204" pitchFamily="34" charset="0"/>
                <a:cs typeface="Times New Roman" panose="02020603050405020304" pitchFamily="18" charset="0"/>
              </a:rPr>
              <a:t>Surface_local</a:t>
            </a:r>
            <a:r>
              <a:rPr lang="fr-FR" sz="1800" kern="100" dirty="0">
                <a:effectLst/>
                <a:ea typeface="Aptos" panose="020B0004020202020204" pitchFamily="34" charset="0"/>
                <a:cs typeface="Times New Roman" panose="02020603050405020304" pitchFamily="18" charset="0"/>
              </a:rPr>
              <a:t> (VARCHAR) - Surface totale du local</a:t>
            </a: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err="1">
                <a:effectLst/>
                <a:ea typeface="Aptos" panose="020B0004020202020204" pitchFamily="34" charset="0"/>
                <a:cs typeface="Times New Roman" panose="02020603050405020304" pitchFamily="18" charset="0"/>
              </a:rPr>
              <a:t>Type_local</a:t>
            </a:r>
            <a:r>
              <a:rPr lang="fr-FR" sz="1800" kern="100" dirty="0">
                <a:effectLst/>
                <a:ea typeface="Aptos" panose="020B0004020202020204" pitchFamily="34" charset="0"/>
                <a:cs typeface="Times New Roman" panose="02020603050405020304" pitchFamily="18" charset="0"/>
              </a:rPr>
              <a:t> (VARCHAR) - Type du bien (appartement, maison, etc.)</a:t>
            </a:r>
          </a:p>
          <a:p>
            <a:pPr marL="342900" lvl="0" indent="-342900">
              <a:lnSpc>
                <a:spcPct val="107000"/>
              </a:lnSpc>
              <a:spcAft>
                <a:spcPts val="800"/>
              </a:spcAft>
              <a:buSzPts val="1000"/>
              <a:buFont typeface="Symbol" panose="05050102010706020507" pitchFamily="18" charset="2"/>
              <a:buChar char=""/>
              <a:tabLst>
                <a:tab pos="457200" algn="l"/>
              </a:tabLst>
            </a:pPr>
            <a:endParaRPr lang="fr-FR" kern="100" dirty="0">
              <a:ea typeface="Aptos" panose="020B0004020202020204" pitchFamily="34" charset="0"/>
              <a:cs typeface="Times New Roman" panose="02020603050405020304" pitchFamily="18" charset="0"/>
            </a:endParaRPr>
          </a:p>
          <a:p>
            <a:pPr>
              <a:lnSpc>
                <a:spcPct val="107000"/>
              </a:lnSpc>
              <a:spcAft>
                <a:spcPts val="800"/>
              </a:spcAft>
              <a:buNone/>
            </a:pPr>
            <a:r>
              <a:rPr lang="fr-FR" sz="1800" b="1" kern="100" dirty="0">
                <a:effectLst/>
                <a:ea typeface="Aptos" panose="020B0004020202020204" pitchFamily="34" charset="0"/>
                <a:cs typeface="Times New Roman" panose="02020603050405020304" pitchFamily="18" charset="0"/>
              </a:rPr>
              <a:t>Table Région</a:t>
            </a:r>
            <a:endParaRPr lang="fr-FR" sz="1800" kern="100" dirty="0">
              <a:effectLst/>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err="1">
                <a:effectLst/>
                <a:ea typeface="Aptos" panose="020B0004020202020204" pitchFamily="34" charset="0"/>
                <a:cs typeface="Times New Roman" panose="02020603050405020304" pitchFamily="18" charset="0"/>
              </a:rPr>
              <a:t>id_region</a:t>
            </a:r>
            <a:r>
              <a:rPr lang="fr-FR" sz="1800" kern="100" dirty="0">
                <a:effectLst/>
                <a:ea typeface="Aptos" panose="020B0004020202020204" pitchFamily="34" charset="0"/>
                <a:cs typeface="Times New Roman" panose="02020603050405020304" pitchFamily="18" charset="0"/>
              </a:rPr>
              <a:t> (INTEGER, PK) - Identifiant unique de la région</a:t>
            </a:r>
          </a:p>
          <a:p>
            <a:pPr marL="342900" lvl="0" indent="-342900">
              <a:lnSpc>
                <a:spcPct val="107000"/>
              </a:lnSpc>
              <a:spcAft>
                <a:spcPts val="800"/>
              </a:spcAft>
              <a:buSzPts val="1000"/>
              <a:buFont typeface="Symbol" panose="05050102010706020507" pitchFamily="18" charset="2"/>
              <a:buChar char=""/>
              <a:tabLst>
                <a:tab pos="457200" algn="l"/>
              </a:tabLst>
            </a:pPr>
            <a:r>
              <a:rPr lang="fr-FR" sz="1800" b="1" kern="100" dirty="0" err="1">
                <a:effectLst/>
                <a:ea typeface="Aptos" panose="020B0004020202020204" pitchFamily="34" charset="0"/>
                <a:cs typeface="Times New Roman" panose="02020603050405020304" pitchFamily="18" charset="0"/>
              </a:rPr>
              <a:t>Nom_region</a:t>
            </a:r>
            <a:r>
              <a:rPr lang="fr-FR" sz="1800" kern="100" dirty="0">
                <a:effectLst/>
                <a:ea typeface="Aptos" panose="020B0004020202020204" pitchFamily="34" charset="0"/>
                <a:cs typeface="Times New Roman" panose="02020603050405020304" pitchFamily="18" charset="0"/>
              </a:rPr>
              <a:t> (VARCHAR) - Nom officiel de la région</a:t>
            </a:r>
          </a:p>
          <a:p>
            <a:pPr marL="342900" lvl="0" indent="-342900">
              <a:lnSpc>
                <a:spcPct val="107000"/>
              </a:lnSpc>
              <a:spcAft>
                <a:spcPts val="800"/>
              </a:spcAft>
              <a:buSzPts val="1000"/>
              <a:buFont typeface="Symbol" panose="05050102010706020507" pitchFamily="18" charset="2"/>
              <a:buChar char=""/>
              <a:tabLst>
                <a:tab pos="457200" algn="l"/>
              </a:tabLst>
            </a:pPr>
            <a:endParaRPr lang="fr-FR" sz="18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303687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344EC-F594-4BEC-3887-145F57D6DDCC}"/>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94DFB42B-5FCC-3392-A82E-A97403FB1C49}"/>
              </a:ext>
            </a:extLst>
          </p:cNvPr>
          <p:cNvSpPr txBox="1"/>
          <p:nvPr/>
        </p:nvSpPr>
        <p:spPr>
          <a:xfrm>
            <a:off x="41661" y="538701"/>
            <a:ext cx="9060678" cy="5331331"/>
          </a:xfrm>
          <a:prstGeom prst="rect">
            <a:avLst/>
          </a:prstGeom>
          <a:noFill/>
        </p:spPr>
        <p:txBody>
          <a:bodyPr wrap="square" rtlCol="0">
            <a:spAutoFit/>
          </a:bodyPr>
          <a:lstStyle/>
          <a:p>
            <a:pPr>
              <a:lnSpc>
                <a:spcPct val="107000"/>
              </a:lnSpc>
              <a:spcAft>
                <a:spcPts val="800"/>
              </a:spcAft>
              <a:buNone/>
            </a:pPr>
            <a:r>
              <a:rPr lang="fr-FR" sz="1700" b="1" kern="100" dirty="0">
                <a:effectLst/>
                <a:ea typeface="Aptos" panose="020B0004020202020204" pitchFamily="34" charset="0"/>
                <a:cs typeface="Times New Roman" panose="02020603050405020304" pitchFamily="18" charset="0"/>
              </a:rPr>
              <a:t>Table Vente</a:t>
            </a:r>
            <a:endParaRPr lang="fr-FR" sz="1700" kern="100" dirty="0">
              <a:effectLst/>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1700" b="1" kern="100" dirty="0" err="1">
                <a:effectLst/>
                <a:ea typeface="Aptos" panose="020B0004020202020204" pitchFamily="34" charset="0"/>
                <a:cs typeface="Times New Roman" panose="02020603050405020304" pitchFamily="18" charset="0"/>
              </a:rPr>
              <a:t>Id_</a:t>
            </a:r>
            <a:r>
              <a:rPr lang="fr-FR" sz="1700" b="1" kern="100" dirty="0" err="1">
                <a:ea typeface="Aptos" panose="020B0004020202020204" pitchFamily="34" charset="0"/>
                <a:cs typeface="Times New Roman" panose="02020603050405020304" pitchFamily="18" charset="0"/>
              </a:rPr>
              <a:t>transaction</a:t>
            </a:r>
            <a:r>
              <a:rPr lang="fr-FR" sz="1700" kern="100" dirty="0">
                <a:effectLst/>
                <a:ea typeface="Aptos" panose="020B0004020202020204" pitchFamily="34" charset="0"/>
                <a:cs typeface="Times New Roman" panose="02020603050405020304" pitchFamily="18" charset="0"/>
              </a:rPr>
              <a:t> (VARCHAR, PK) - Identifiant unique de la table vente</a:t>
            </a:r>
          </a:p>
          <a:p>
            <a:pPr marL="342900" lvl="0" indent="-342900">
              <a:lnSpc>
                <a:spcPct val="107000"/>
              </a:lnSpc>
              <a:spcAft>
                <a:spcPts val="800"/>
              </a:spcAft>
              <a:buSzPts val="1000"/>
              <a:buFont typeface="Symbol" panose="05050102010706020507" pitchFamily="18" charset="2"/>
              <a:buChar char=""/>
              <a:tabLst>
                <a:tab pos="457200" algn="l"/>
              </a:tabLst>
            </a:pPr>
            <a:r>
              <a:rPr lang="fr-FR" sz="1700" b="1" kern="100" dirty="0" err="1">
                <a:effectLst/>
                <a:ea typeface="Aptos" panose="020B0004020202020204" pitchFamily="34" charset="0"/>
                <a:cs typeface="Times New Roman" panose="02020603050405020304" pitchFamily="18" charset="0"/>
              </a:rPr>
              <a:t>Id_bien</a:t>
            </a:r>
            <a:r>
              <a:rPr lang="fr-FR" sz="1700" kern="100" dirty="0">
                <a:effectLst/>
                <a:ea typeface="Aptos" panose="020B0004020202020204" pitchFamily="34" charset="0"/>
                <a:cs typeface="Times New Roman" panose="02020603050405020304" pitchFamily="18" charset="0"/>
              </a:rPr>
              <a:t> (INTEGER, FK -&gt; Table Bien) - Référence au bien vendu</a:t>
            </a:r>
          </a:p>
          <a:p>
            <a:pPr marL="342900" lvl="0" indent="-342900">
              <a:lnSpc>
                <a:spcPct val="107000"/>
              </a:lnSpc>
              <a:spcAft>
                <a:spcPts val="800"/>
              </a:spcAft>
              <a:buSzPts val="1000"/>
              <a:buFont typeface="Symbol" panose="05050102010706020507" pitchFamily="18" charset="2"/>
              <a:buChar char=""/>
              <a:tabLst>
                <a:tab pos="457200" algn="l"/>
              </a:tabLst>
            </a:pPr>
            <a:r>
              <a:rPr lang="fr-FR" sz="1700" b="1" kern="100" dirty="0" err="1">
                <a:effectLst/>
                <a:ea typeface="Aptos" panose="020B0004020202020204" pitchFamily="34" charset="0"/>
                <a:cs typeface="Times New Roman" panose="02020603050405020304" pitchFamily="18" charset="0"/>
              </a:rPr>
              <a:t>Date_mutation</a:t>
            </a:r>
            <a:r>
              <a:rPr lang="fr-FR" sz="1700" kern="100" dirty="0">
                <a:effectLst/>
                <a:ea typeface="Aptos" panose="020B0004020202020204" pitchFamily="34" charset="0"/>
                <a:cs typeface="Times New Roman" panose="02020603050405020304" pitchFamily="18" charset="0"/>
              </a:rPr>
              <a:t> (DATE) - Date de la transaction </a:t>
            </a:r>
          </a:p>
          <a:p>
            <a:pPr marL="342900" lvl="0" indent="-342900">
              <a:lnSpc>
                <a:spcPct val="107000"/>
              </a:lnSpc>
              <a:spcAft>
                <a:spcPts val="800"/>
              </a:spcAft>
              <a:buSzPts val="1000"/>
              <a:buFont typeface="Symbol" panose="05050102010706020507" pitchFamily="18" charset="2"/>
              <a:buChar char=""/>
              <a:tabLst>
                <a:tab pos="457200" algn="l"/>
              </a:tabLst>
            </a:pPr>
            <a:r>
              <a:rPr lang="fr-FR" sz="1700" b="1" kern="100" dirty="0" err="1">
                <a:effectLst/>
                <a:ea typeface="Aptos" panose="020B0004020202020204" pitchFamily="34" charset="0"/>
                <a:cs typeface="Times New Roman" panose="02020603050405020304" pitchFamily="18" charset="0"/>
              </a:rPr>
              <a:t>Valeur_fonciere</a:t>
            </a:r>
            <a:r>
              <a:rPr lang="fr-FR" sz="1700" kern="100" dirty="0">
                <a:effectLst/>
                <a:ea typeface="Aptos" panose="020B0004020202020204" pitchFamily="34" charset="0"/>
                <a:cs typeface="Times New Roman" panose="02020603050405020304" pitchFamily="18" charset="0"/>
              </a:rPr>
              <a:t> (REAL) - Prix de la transaction en euros</a:t>
            </a:r>
          </a:p>
          <a:p>
            <a:pPr marL="342900" lvl="0" indent="-342900">
              <a:lnSpc>
                <a:spcPct val="107000"/>
              </a:lnSpc>
              <a:spcAft>
                <a:spcPts val="800"/>
              </a:spcAft>
              <a:buSzPts val="1000"/>
              <a:buFont typeface="Symbol" panose="05050102010706020507" pitchFamily="18" charset="2"/>
              <a:buChar char=""/>
              <a:tabLst>
                <a:tab pos="457200" algn="l"/>
              </a:tabLst>
            </a:pPr>
            <a:endParaRPr lang="fr-FR" sz="1700" kern="100" dirty="0">
              <a:effectLst/>
              <a:ea typeface="Aptos" panose="020B0004020202020204" pitchFamily="34" charset="0"/>
              <a:cs typeface="Times New Roman" panose="02020603050405020304" pitchFamily="18" charset="0"/>
            </a:endParaRPr>
          </a:p>
          <a:p>
            <a:pPr>
              <a:lnSpc>
                <a:spcPct val="107000"/>
              </a:lnSpc>
              <a:spcAft>
                <a:spcPts val="800"/>
              </a:spcAft>
              <a:buNone/>
            </a:pPr>
            <a:r>
              <a:rPr lang="fr-FR" sz="1700" b="1" kern="100" dirty="0">
                <a:effectLst/>
                <a:ea typeface="Aptos" panose="020B0004020202020204" pitchFamily="34" charset="0"/>
                <a:cs typeface="Times New Roman" panose="02020603050405020304" pitchFamily="18" charset="0"/>
              </a:rPr>
              <a:t>Table Commune</a:t>
            </a:r>
            <a:endParaRPr lang="fr-FR" sz="1700" kern="100" dirty="0">
              <a:effectLst/>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1700" b="1" kern="100" dirty="0" err="1">
                <a:effectLst/>
                <a:ea typeface="Aptos" panose="020B0004020202020204" pitchFamily="34" charset="0"/>
                <a:cs typeface="Times New Roman" panose="02020603050405020304" pitchFamily="18" charset="0"/>
              </a:rPr>
              <a:t>id_codedep_codecommune</a:t>
            </a:r>
            <a:r>
              <a:rPr lang="fr-FR" sz="1700" kern="100" dirty="0">
                <a:effectLst/>
                <a:ea typeface="Aptos" panose="020B0004020202020204" pitchFamily="34" charset="0"/>
                <a:cs typeface="Times New Roman" panose="02020603050405020304" pitchFamily="18" charset="0"/>
              </a:rPr>
              <a:t> (VARCHAR, PK) - Identifiant unique de la table commune </a:t>
            </a:r>
          </a:p>
          <a:p>
            <a:pPr marL="342900" lvl="0" indent="-342900">
              <a:lnSpc>
                <a:spcPct val="107000"/>
              </a:lnSpc>
              <a:spcAft>
                <a:spcPts val="800"/>
              </a:spcAft>
              <a:buSzPts val="1000"/>
              <a:buFont typeface="Symbol" panose="05050102010706020507" pitchFamily="18" charset="2"/>
              <a:buChar char=""/>
              <a:tabLst>
                <a:tab pos="457200" algn="l"/>
              </a:tabLst>
            </a:pPr>
            <a:r>
              <a:rPr lang="fr-FR" sz="1700" b="1" kern="100" dirty="0" err="1">
                <a:effectLst/>
                <a:ea typeface="Aptos" panose="020B0004020202020204" pitchFamily="34" charset="0"/>
                <a:cs typeface="Times New Roman" panose="02020603050405020304" pitchFamily="18" charset="0"/>
              </a:rPr>
              <a:t>Code_departement</a:t>
            </a:r>
            <a:r>
              <a:rPr lang="fr-FR" sz="1700" kern="100" dirty="0">
                <a:effectLst/>
                <a:ea typeface="Aptos" panose="020B0004020202020204" pitchFamily="34" charset="0"/>
                <a:cs typeface="Times New Roman" panose="02020603050405020304" pitchFamily="18" charset="0"/>
              </a:rPr>
              <a:t> (VARCHAR</a:t>
            </a:r>
            <a:r>
              <a:rPr lang="fr-FR" sz="1700" kern="100" dirty="0">
                <a:ea typeface="Aptos" panose="020B0004020202020204" pitchFamily="34" charset="0"/>
                <a:cs typeface="Times New Roman" panose="02020603050405020304" pitchFamily="18" charset="0"/>
              </a:rPr>
              <a:t>)</a:t>
            </a:r>
            <a:r>
              <a:rPr lang="fr-FR" sz="1700" kern="100" dirty="0">
                <a:effectLst/>
                <a:ea typeface="Aptos" panose="020B0004020202020204" pitchFamily="34" charset="0"/>
                <a:cs typeface="Times New Roman" panose="02020603050405020304" pitchFamily="18" charset="0"/>
              </a:rPr>
              <a:t> - Code du département</a:t>
            </a:r>
          </a:p>
          <a:p>
            <a:pPr marL="342900" lvl="0" indent="-342900">
              <a:lnSpc>
                <a:spcPct val="107000"/>
              </a:lnSpc>
              <a:spcAft>
                <a:spcPts val="800"/>
              </a:spcAft>
              <a:buSzPts val="1000"/>
              <a:buFont typeface="Symbol" panose="05050102010706020507" pitchFamily="18" charset="2"/>
              <a:buChar char=""/>
              <a:tabLst>
                <a:tab pos="457200" algn="l"/>
              </a:tabLst>
            </a:pPr>
            <a:r>
              <a:rPr lang="fr-FR" sz="1700" b="1" kern="100" dirty="0" err="1">
                <a:effectLst/>
                <a:ea typeface="Aptos" panose="020B0004020202020204" pitchFamily="34" charset="0"/>
                <a:cs typeface="Times New Roman" panose="02020603050405020304" pitchFamily="18" charset="0"/>
              </a:rPr>
              <a:t>Code_commune</a:t>
            </a:r>
            <a:r>
              <a:rPr lang="fr-FR" sz="1700" kern="100" dirty="0">
                <a:effectLst/>
                <a:ea typeface="Aptos" panose="020B0004020202020204" pitchFamily="34" charset="0"/>
                <a:cs typeface="Times New Roman" panose="02020603050405020304" pitchFamily="18" charset="0"/>
              </a:rPr>
              <a:t> (VARCHAR) - Code INSEE de la commune </a:t>
            </a:r>
          </a:p>
          <a:p>
            <a:pPr marL="342900" lvl="0" indent="-342900">
              <a:lnSpc>
                <a:spcPct val="107000"/>
              </a:lnSpc>
              <a:spcAft>
                <a:spcPts val="800"/>
              </a:spcAft>
              <a:buSzPts val="1000"/>
              <a:buFont typeface="Symbol" panose="05050102010706020507" pitchFamily="18" charset="2"/>
              <a:buChar char=""/>
              <a:tabLst>
                <a:tab pos="457200" algn="l"/>
              </a:tabLst>
            </a:pPr>
            <a:r>
              <a:rPr lang="fr-FR" sz="1700" b="1" kern="100" dirty="0" err="1">
                <a:effectLst/>
                <a:ea typeface="Aptos" panose="020B0004020202020204" pitchFamily="34" charset="0"/>
                <a:cs typeface="Times New Roman" panose="02020603050405020304" pitchFamily="18" charset="0"/>
              </a:rPr>
              <a:t>Code_postal</a:t>
            </a:r>
            <a:r>
              <a:rPr lang="fr-FR" sz="1700" kern="100" dirty="0">
                <a:effectLst/>
                <a:ea typeface="Aptos" panose="020B0004020202020204" pitchFamily="34" charset="0"/>
                <a:cs typeface="Times New Roman" panose="02020603050405020304" pitchFamily="18" charset="0"/>
              </a:rPr>
              <a:t> (VARCHAR) - Code postal </a:t>
            </a:r>
          </a:p>
          <a:p>
            <a:pPr marL="342900" lvl="0" indent="-342900">
              <a:lnSpc>
                <a:spcPct val="107000"/>
              </a:lnSpc>
              <a:spcAft>
                <a:spcPts val="800"/>
              </a:spcAft>
              <a:buSzPts val="1000"/>
              <a:buFont typeface="Symbol" panose="05050102010706020507" pitchFamily="18" charset="2"/>
              <a:buChar char=""/>
              <a:tabLst>
                <a:tab pos="457200" algn="l"/>
              </a:tabLst>
            </a:pPr>
            <a:r>
              <a:rPr lang="fr-FR" sz="1700" b="1" kern="100" dirty="0" err="1">
                <a:effectLst/>
                <a:ea typeface="Aptos" panose="020B0004020202020204" pitchFamily="34" charset="0"/>
                <a:cs typeface="Times New Roman" panose="02020603050405020304" pitchFamily="18" charset="0"/>
              </a:rPr>
              <a:t>Nom_commune</a:t>
            </a:r>
            <a:r>
              <a:rPr lang="fr-FR" sz="1700" kern="100" dirty="0">
                <a:effectLst/>
                <a:ea typeface="Aptos" panose="020B0004020202020204" pitchFamily="34" charset="0"/>
                <a:cs typeface="Times New Roman" panose="02020603050405020304" pitchFamily="18" charset="0"/>
              </a:rPr>
              <a:t> (VARCHAR) - Nom officiel de la commune </a:t>
            </a:r>
          </a:p>
          <a:p>
            <a:pPr marL="342900" lvl="0" indent="-342900">
              <a:lnSpc>
                <a:spcPct val="107000"/>
              </a:lnSpc>
              <a:spcAft>
                <a:spcPts val="800"/>
              </a:spcAft>
              <a:buSzPts val="1000"/>
              <a:buFont typeface="Symbol" panose="05050102010706020507" pitchFamily="18" charset="2"/>
              <a:buChar char=""/>
              <a:tabLst>
                <a:tab pos="457200" algn="l"/>
              </a:tabLst>
            </a:pPr>
            <a:r>
              <a:rPr lang="fr-FR" sz="1700" b="1" kern="100" dirty="0" err="1">
                <a:effectLst/>
                <a:ea typeface="Aptos" panose="020B0004020202020204" pitchFamily="34" charset="0"/>
                <a:cs typeface="Times New Roman" panose="02020603050405020304" pitchFamily="18" charset="0"/>
              </a:rPr>
              <a:t>id_region</a:t>
            </a:r>
            <a:r>
              <a:rPr lang="fr-FR" sz="1700" kern="100" dirty="0">
                <a:effectLst/>
                <a:ea typeface="Aptos" panose="020B0004020202020204" pitchFamily="34" charset="0"/>
                <a:cs typeface="Times New Roman" panose="02020603050405020304" pitchFamily="18" charset="0"/>
              </a:rPr>
              <a:t> (INTEGER, FK -&gt; Table Région) - Référence à la région</a:t>
            </a:r>
          </a:p>
          <a:p>
            <a:pPr marL="342900" lvl="0" indent="-342900">
              <a:lnSpc>
                <a:spcPct val="107000"/>
              </a:lnSpc>
              <a:spcAft>
                <a:spcPts val="800"/>
              </a:spcAft>
              <a:buSzPts val="1000"/>
              <a:buFont typeface="Symbol" panose="05050102010706020507" pitchFamily="18" charset="2"/>
              <a:buChar char=""/>
              <a:tabLst>
                <a:tab pos="457200" algn="l"/>
              </a:tabLst>
            </a:pPr>
            <a:r>
              <a:rPr lang="fr-FR" sz="1700" kern="100" dirty="0" err="1">
                <a:ea typeface="Aptos" panose="020B0004020202020204" pitchFamily="34" charset="0"/>
                <a:cs typeface="Times New Roman" panose="02020603050405020304" pitchFamily="18" charset="0"/>
              </a:rPr>
              <a:t>Code_postal</a:t>
            </a:r>
            <a:r>
              <a:rPr lang="fr-FR" sz="1700" kern="100" dirty="0">
                <a:ea typeface="Aptos" panose="020B0004020202020204" pitchFamily="34" charset="0"/>
                <a:cs typeface="Times New Roman" panose="02020603050405020304" pitchFamily="18" charset="0"/>
              </a:rPr>
              <a:t> (VARCHAR) – Code postal de la commune</a:t>
            </a:r>
            <a:endParaRPr lang="fr-FR" sz="17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440850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E474281-81D2-445B-80A1-0E2D47380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 5">
            <a:extLst>
              <a:ext uri="{FF2B5EF4-FFF2-40B4-BE49-F238E27FC236}">
                <a16:creationId xmlns:a16="http://schemas.microsoft.com/office/drawing/2014/main" id="{9EEB2910-EE92-AFFE-EB24-649193F7E7A3}"/>
              </a:ext>
            </a:extLst>
          </p:cNvPr>
          <p:cNvPicPr>
            <a:picLocks noChangeAspect="1"/>
          </p:cNvPicPr>
          <p:nvPr/>
        </p:nvPicPr>
        <p:blipFill>
          <a:blip r:embed="rId3"/>
          <a:stretch>
            <a:fillRect/>
          </a:stretch>
        </p:blipFill>
        <p:spPr>
          <a:xfrm>
            <a:off x="1330857" y="79306"/>
            <a:ext cx="6287732" cy="3386834"/>
          </a:xfrm>
          <a:prstGeom prst="rect">
            <a:avLst/>
          </a:prstGeom>
        </p:spPr>
      </p:pic>
      <p:pic>
        <p:nvPicPr>
          <p:cNvPr id="8" name="Image 7">
            <a:extLst>
              <a:ext uri="{FF2B5EF4-FFF2-40B4-BE49-F238E27FC236}">
                <a16:creationId xmlns:a16="http://schemas.microsoft.com/office/drawing/2014/main" id="{24D98A1F-E78B-4B5F-1AB9-6E553A61A03E}"/>
              </a:ext>
            </a:extLst>
          </p:cNvPr>
          <p:cNvPicPr>
            <a:picLocks noChangeAspect="1"/>
          </p:cNvPicPr>
          <p:nvPr/>
        </p:nvPicPr>
        <p:blipFill>
          <a:blip r:embed="rId4"/>
          <a:stretch>
            <a:fillRect/>
          </a:stretch>
        </p:blipFill>
        <p:spPr>
          <a:xfrm>
            <a:off x="1330857" y="3466140"/>
            <a:ext cx="6287732" cy="3312555"/>
          </a:xfrm>
          <a:prstGeom prst="rect">
            <a:avLst/>
          </a:prstGeom>
        </p:spPr>
      </p:pic>
    </p:spTree>
    <p:extLst>
      <p:ext uri="{BB962C8B-B14F-4D97-AF65-F5344CB8AC3E}">
        <p14:creationId xmlns:p14="http://schemas.microsoft.com/office/powerpoint/2010/main" val="2760278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E474281-81D2-445B-80A1-0E2D47380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 2">
            <a:extLst>
              <a:ext uri="{FF2B5EF4-FFF2-40B4-BE49-F238E27FC236}">
                <a16:creationId xmlns:a16="http://schemas.microsoft.com/office/drawing/2014/main" id="{32A0BC7A-6B06-EBB1-FA5F-70F6FBA92E6B}"/>
              </a:ext>
            </a:extLst>
          </p:cNvPr>
          <p:cNvPicPr>
            <a:picLocks noChangeAspect="1"/>
          </p:cNvPicPr>
          <p:nvPr/>
        </p:nvPicPr>
        <p:blipFill>
          <a:blip r:embed="rId3"/>
          <a:stretch>
            <a:fillRect/>
          </a:stretch>
        </p:blipFill>
        <p:spPr>
          <a:xfrm>
            <a:off x="1505381" y="0"/>
            <a:ext cx="5938684" cy="3446928"/>
          </a:xfrm>
          <a:prstGeom prst="rect">
            <a:avLst/>
          </a:prstGeom>
        </p:spPr>
      </p:pic>
      <p:pic>
        <p:nvPicPr>
          <p:cNvPr id="6" name="Image 5">
            <a:extLst>
              <a:ext uri="{FF2B5EF4-FFF2-40B4-BE49-F238E27FC236}">
                <a16:creationId xmlns:a16="http://schemas.microsoft.com/office/drawing/2014/main" id="{5B675F52-09BF-BCC9-ED36-4977E6CD93B4}"/>
              </a:ext>
            </a:extLst>
          </p:cNvPr>
          <p:cNvPicPr>
            <a:picLocks noChangeAspect="1"/>
          </p:cNvPicPr>
          <p:nvPr/>
        </p:nvPicPr>
        <p:blipFill>
          <a:blip r:embed="rId4"/>
          <a:stretch>
            <a:fillRect/>
          </a:stretch>
        </p:blipFill>
        <p:spPr>
          <a:xfrm>
            <a:off x="1338597" y="3055735"/>
            <a:ext cx="6466805" cy="3802265"/>
          </a:xfrm>
          <a:prstGeom prst="rect">
            <a:avLst/>
          </a:prstGeom>
        </p:spPr>
      </p:pic>
    </p:spTree>
    <p:extLst>
      <p:ext uri="{BB962C8B-B14F-4D97-AF65-F5344CB8AC3E}">
        <p14:creationId xmlns:p14="http://schemas.microsoft.com/office/powerpoint/2010/main" val="4119392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1C03C-6763-C3CB-7E6D-E9201B538C95}"/>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845D88F4-BD22-CCB2-175E-F74F282031F0}"/>
              </a:ext>
            </a:extLst>
          </p:cNvPr>
          <p:cNvSpPr txBox="1"/>
          <p:nvPr/>
        </p:nvSpPr>
        <p:spPr>
          <a:xfrm>
            <a:off x="0" y="1679324"/>
            <a:ext cx="9144000" cy="2665089"/>
          </a:xfrm>
          <a:prstGeom prst="rect">
            <a:avLst/>
          </a:prstGeom>
          <a:noFill/>
        </p:spPr>
        <p:txBody>
          <a:bodyPr wrap="square" rtlCol="0">
            <a:spAutoFit/>
          </a:bodyPr>
          <a:lstStyle/>
          <a:p>
            <a:pPr>
              <a:lnSpc>
                <a:spcPct val="107000"/>
              </a:lnSpc>
              <a:spcAft>
                <a:spcPts val="800"/>
              </a:spcAft>
              <a:buNone/>
            </a:pPr>
            <a:r>
              <a:rPr lang="fr-FR" b="1" kern="100" dirty="0">
                <a:effectLst/>
                <a:ea typeface="Aptos" panose="020B0004020202020204" pitchFamily="34" charset="0"/>
                <a:cs typeface="Times New Roman" panose="02020603050405020304" pitchFamily="18" charset="0"/>
              </a:rPr>
              <a:t>Modifications</a:t>
            </a:r>
            <a:endParaRPr lang="fr-FR" kern="100" dirty="0">
              <a:effectLst/>
              <a:ea typeface="Aptos" panose="020B000402020202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fr-FR" b="1" kern="100" dirty="0">
                <a:effectLst/>
                <a:ea typeface="Aptos" panose="020B0004020202020204" pitchFamily="34" charset="0"/>
                <a:cs typeface="Times New Roman" panose="02020603050405020304" pitchFamily="18" charset="0"/>
              </a:rPr>
              <a:t>Ajout de la table Région</a:t>
            </a:r>
            <a:r>
              <a:rPr lang="fr-FR" kern="100" dirty="0">
                <a:effectLst/>
                <a:ea typeface="Aptos" panose="020B0004020202020204" pitchFamily="34" charset="0"/>
                <a:cs typeface="Times New Roman" panose="02020603050405020304" pitchFamily="18" charset="0"/>
              </a:rPr>
              <a:t> : Chaque commune est associée à une région, ce qui évite la redondance des noms de région dans plusieurs communes.</a:t>
            </a:r>
          </a:p>
          <a:p>
            <a:pPr marL="342900" lvl="0" indent="-342900">
              <a:lnSpc>
                <a:spcPct val="107000"/>
              </a:lnSpc>
              <a:spcAft>
                <a:spcPts val="800"/>
              </a:spcAft>
              <a:buFont typeface="+mj-lt"/>
              <a:buAutoNum type="arabicPeriod"/>
              <a:tabLst>
                <a:tab pos="457200" algn="l"/>
              </a:tabLst>
            </a:pPr>
            <a:r>
              <a:rPr lang="fr-FR" b="1" kern="100" dirty="0">
                <a:effectLst/>
                <a:ea typeface="Aptos" panose="020B0004020202020204" pitchFamily="34" charset="0"/>
                <a:cs typeface="Times New Roman" panose="02020603050405020304" pitchFamily="18" charset="0"/>
              </a:rPr>
              <a:t>Respect de la 3NF</a:t>
            </a:r>
            <a:r>
              <a:rPr lang="fr-FR" kern="100" dirty="0">
                <a:effectLst/>
                <a:ea typeface="Aptos" panose="020B0004020202020204" pitchFamily="34" charset="0"/>
                <a:cs typeface="Times New Roman" panose="02020603050405020304" pitchFamily="18" charset="0"/>
              </a:rPr>
              <a:t> :</a:t>
            </a:r>
          </a:p>
          <a:p>
            <a:pPr marL="742950" lvl="1" indent="-285750">
              <a:lnSpc>
                <a:spcPct val="107000"/>
              </a:lnSpc>
              <a:spcAft>
                <a:spcPts val="800"/>
              </a:spcAft>
              <a:buSzPts val="1000"/>
              <a:buFont typeface="Courier New" panose="02070309020205020404" pitchFamily="49" charset="0"/>
              <a:buChar char="o"/>
              <a:tabLst>
                <a:tab pos="914400" algn="l"/>
              </a:tabLst>
            </a:pPr>
            <a:r>
              <a:rPr lang="fr-FR" kern="100" dirty="0">
                <a:effectLst/>
                <a:ea typeface="Aptos" panose="020B0004020202020204" pitchFamily="34" charset="0"/>
                <a:cs typeface="Times New Roman" panose="02020603050405020304" pitchFamily="18" charset="0"/>
              </a:rPr>
              <a:t>Chaque table dépend uniquement de sa clé primaire.</a:t>
            </a:r>
          </a:p>
          <a:p>
            <a:pPr marL="742950" lvl="1" indent="-285750">
              <a:lnSpc>
                <a:spcPct val="107000"/>
              </a:lnSpc>
              <a:spcAft>
                <a:spcPts val="800"/>
              </a:spcAft>
              <a:buSzPts val="1000"/>
              <a:buFont typeface="Courier New" panose="02070309020205020404" pitchFamily="49" charset="0"/>
              <a:buChar char="o"/>
              <a:tabLst>
                <a:tab pos="914400" algn="l"/>
              </a:tabLst>
            </a:pPr>
            <a:r>
              <a:rPr lang="fr-FR" kern="100" dirty="0">
                <a:effectLst/>
                <a:ea typeface="Aptos" panose="020B0004020202020204" pitchFamily="34" charset="0"/>
                <a:cs typeface="Times New Roman" panose="02020603050405020304" pitchFamily="18" charset="0"/>
              </a:rPr>
              <a:t>Aucune donnée redondante entre les entités.</a:t>
            </a:r>
          </a:p>
          <a:p>
            <a:pPr marL="742950" lvl="1" indent="-285750">
              <a:lnSpc>
                <a:spcPct val="107000"/>
              </a:lnSpc>
              <a:spcAft>
                <a:spcPts val="800"/>
              </a:spcAft>
              <a:buSzPts val="1000"/>
              <a:buFont typeface="Courier New" panose="02070309020205020404" pitchFamily="49" charset="0"/>
              <a:buChar char="o"/>
              <a:tabLst>
                <a:tab pos="914400" algn="l"/>
              </a:tabLst>
            </a:pPr>
            <a:r>
              <a:rPr lang="fr-FR" kern="100" dirty="0">
                <a:effectLst/>
                <a:ea typeface="Aptos" panose="020B0004020202020204" pitchFamily="34" charset="0"/>
                <a:cs typeface="Times New Roman" panose="02020603050405020304" pitchFamily="18" charset="0"/>
              </a:rPr>
              <a:t>Les relations sont établies avec des clés étrangères bien définies.</a:t>
            </a:r>
          </a:p>
        </p:txBody>
      </p:sp>
    </p:spTree>
    <p:extLst>
      <p:ext uri="{BB962C8B-B14F-4D97-AF65-F5344CB8AC3E}">
        <p14:creationId xmlns:p14="http://schemas.microsoft.com/office/powerpoint/2010/main" val="75798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Requêtes</a:t>
            </a:r>
            <a:r>
              <a:rPr dirty="0"/>
              <a:t> SQL &amp; </a:t>
            </a:r>
            <a:r>
              <a:rPr dirty="0" err="1"/>
              <a:t>résultats</a:t>
            </a:r>
            <a:endParaRPr dirty="0"/>
          </a:p>
        </p:txBody>
      </p:sp>
      <p:sp>
        <p:nvSpPr>
          <p:cNvPr id="3" name="Content Placeholder 2"/>
          <p:cNvSpPr>
            <a:spLocks noGrp="1"/>
          </p:cNvSpPr>
          <p:nvPr>
            <p:ph idx="1"/>
          </p:nvPr>
        </p:nvSpPr>
        <p:spPr>
          <a:xfrm>
            <a:off x="685346" y="1732450"/>
            <a:ext cx="7765322" cy="1146937"/>
          </a:xfrm>
        </p:spPr>
        <p:txBody>
          <a:bodyPr>
            <a:normAutofit/>
          </a:bodyPr>
          <a:lstStyle/>
          <a:p>
            <a:r>
              <a:rPr lang="fr-FR" dirty="0"/>
              <a:t>Résultats Requête 1</a:t>
            </a:r>
          </a:p>
          <a:p>
            <a:pPr marL="36900" indent="0">
              <a:buNone/>
            </a:pPr>
            <a:r>
              <a:rPr lang="fr-FR" dirty="0"/>
              <a:t>1. Nombre total d’appartements vendus au 1er semestre 2020 </a:t>
            </a:r>
          </a:p>
          <a:p>
            <a:pPr marL="36900" indent="0">
              <a:buNone/>
            </a:pPr>
            <a:endParaRPr lang="fr-FR" dirty="0"/>
          </a:p>
        </p:txBody>
      </p:sp>
      <p:sp>
        <p:nvSpPr>
          <p:cNvPr id="6" name="Rectangle 1">
            <a:extLst>
              <a:ext uri="{FF2B5EF4-FFF2-40B4-BE49-F238E27FC236}">
                <a16:creationId xmlns:a16="http://schemas.microsoft.com/office/drawing/2014/main" id="{446DC625-F7FE-CDC4-FE9A-95E9C0A21192}"/>
              </a:ext>
            </a:extLst>
          </p:cNvPr>
          <p:cNvSpPr>
            <a:spLocks noChangeArrowheads="1"/>
          </p:cNvSpPr>
          <p:nvPr/>
        </p:nvSpPr>
        <p:spPr bwMode="auto">
          <a:xfrm>
            <a:off x="0" y="5048016"/>
            <a:ext cx="919395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fr-FR" altLang="fr-FR" sz="2000" b="0" i="0" u="none" strike="noStrike" cap="none" normalizeH="0" baseline="0" dirty="0">
                <a:ln>
                  <a:noFill/>
                </a:ln>
                <a:solidFill>
                  <a:schemeClr val="tx1"/>
                </a:solidFill>
                <a:effectLst/>
              </a:rPr>
              <a:t>Cette </a:t>
            </a:r>
            <a:r>
              <a:rPr kumimoji="0" lang="fr-FR" altLang="fr-FR" sz="2000" b="0" i="0" strike="noStrike" cap="none" normalizeH="0" baseline="0" dirty="0">
                <a:ln>
                  <a:noFill/>
                </a:ln>
                <a:solidFill>
                  <a:schemeClr val="tx1"/>
                </a:solidFill>
              </a:rPr>
              <a:t>requête</a:t>
            </a:r>
            <a:r>
              <a:rPr kumimoji="0" lang="fr-FR" altLang="fr-FR" sz="2000" b="0" i="0" u="none" strike="noStrike" cap="none" normalizeH="0" baseline="0" dirty="0">
                <a:ln>
                  <a:noFill/>
                </a:ln>
                <a:solidFill>
                  <a:schemeClr val="tx1"/>
                </a:solidFill>
                <a:effectLst/>
              </a:rPr>
              <a:t> compte toutes les ventes d'appartements entre janvier et juin 2020</a:t>
            </a:r>
          </a:p>
        </p:txBody>
      </p:sp>
      <p:pic>
        <p:nvPicPr>
          <p:cNvPr id="5" name="Image 4">
            <a:extLst>
              <a:ext uri="{FF2B5EF4-FFF2-40B4-BE49-F238E27FC236}">
                <a16:creationId xmlns:a16="http://schemas.microsoft.com/office/drawing/2014/main" id="{13D784ED-7662-4D79-8041-547EE5A3DD58}"/>
              </a:ext>
            </a:extLst>
          </p:cNvPr>
          <p:cNvPicPr>
            <a:picLocks noChangeAspect="1"/>
          </p:cNvPicPr>
          <p:nvPr/>
        </p:nvPicPr>
        <p:blipFill>
          <a:blip r:embed="rId2"/>
          <a:stretch>
            <a:fillRect/>
          </a:stretch>
        </p:blipFill>
        <p:spPr>
          <a:xfrm>
            <a:off x="0" y="2879387"/>
            <a:ext cx="5089292" cy="1257409"/>
          </a:xfrm>
          <a:prstGeom prst="rect">
            <a:avLst/>
          </a:prstGeom>
        </p:spPr>
      </p:pic>
      <p:pic>
        <p:nvPicPr>
          <p:cNvPr id="9" name="Image 8">
            <a:extLst>
              <a:ext uri="{FF2B5EF4-FFF2-40B4-BE49-F238E27FC236}">
                <a16:creationId xmlns:a16="http://schemas.microsoft.com/office/drawing/2014/main" id="{D01974B8-7058-61B7-2E2A-AD550576E3E2}"/>
              </a:ext>
            </a:extLst>
          </p:cNvPr>
          <p:cNvPicPr>
            <a:picLocks noChangeAspect="1"/>
          </p:cNvPicPr>
          <p:nvPr/>
        </p:nvPicPr>
        <p:blipFill>
          <a:blip r:embed="rId3"/>
          <a:stretch>
            <a:fillRect/>
          </a:stretch>
        </p:blipFill>
        <p:spPr>
          <a:xfrm>
            <a:off x="5191432" y="3027329"/>
            <a:ext cx="3952568" cy="9221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8B1FBD-C676-A078-A440-FB512D66D1D0}"/>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95CB840F-8E41-4CA5-B79B-25CC80AD23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82E7F8-46EA-FF54-EE0D-ABF2B0A7C4C2}"/>
              </a:ext>
            </a:extLst>
          </p:cNvPr>
          <p:cNvSpPr>
            <a:spLocks noGrp="1"/>
          </p:cNvSpPr>
          <p:nvPr>
            <p:ph type="title"/>
          </p:nvPr>
        </p:nvSpPr>
        <p:spPr>
          <a:xfrm>
            <a:off x="1231977" y="493845"/>
            <a:ext cx="6975246" cy="970450"/>
          </a:xfrm>
        </p:spPr>
        <p:txBody>
          <a:bodyPr anchor="b">
            <a:noAutofit/>
          </a:bodyPr>
          <a:lstStyle/>
          <a:p>
            <a:pPr algn="l"/>
            <a:r>
              <a:rPr lang="fr-FR" sz="4400" dirty="0">
                <a:ln>
                  <a:solidFill>
                    <a:srgbClr val="404040">
                      <a:alpha val="10000"/>
                    </a:srgbClr>
                  </a:solidFill>
                </a:ln>
                <a:solidFill>
                  <a:srgbClr val="DADADA"/>
                </a:solidFill>
              </a:rPr>
              <a:t>Requêtes SQL &amp; résultats</a:t>
            </a:r>
          </a:p>
        </p:txBody>
      </p:sp>
      <p:sp>
        <p:nvSpPr>
          <p:cNvPr id="3" name="Content Placeholder 2">
            <a:extLst>
              <a:ext uri="{FF2B5EF4-FFF2-40B4-BE49-F238E27FC236}">
                <a16:creationId xmlns:a16="http://schemas.microsoft.com/office/drawing/2014/main" id="{5195CBEF-332E-F143-AB1C-862985EB30E9}"/>
              </a:ext>
            </a:extLst>
          </p:cNvPr>
          <p:cNvSpPr>
            <a:spLocks noGrp="1"/>
          </p:cNvSpPr>
          <p:nvPr>
            <p:ph idx="1"/>
          </p:nvPr>
        </p:nvSpPr>
        <p:spPr>
          <a:xfrm>
            <a:off x="685345" y="1732449"/>
            <a:ext cx="2706783" cy="4482084"/>
          </a:xfrm>
        </p:spPr>
        <p:txBody>
          <a:bodyPr anchor="t">
            <a:normAutofit/>
          </a:bodyPr>
          <a:lstStyle/>
          <a:p>
            <a:r>
              <a:rPr lang="fr-FR" sz="1800" dirty="0">
                <a:ln>
                  <a:solidFill>
                    <a:srgbClr val="404040">
                      <a:alpha val="10000"/>
                    </a:srgbClr>
                  </a:solidFill>
                </a:ln>
                <a:solidFill>
                  <a:srgbClr val="DADADA"/>
                </a:solidFill>
              </a:rPr>
              <a:t>Résultats Requête 2</a:t>
            </a:r>
          </a:p>
          <a:p>
            <a:pPr marL="36900" indent="0">
              <a:buNone/>
            </a:pPr>
            <a:r>
              <a:rPr lang="fr-FR" sz="1800" dirty="0">
                <a:ln>
                  <a:solidFill>
                    <a:srgbClr val="404040">
                      <a:alpha val="10000"/>
                    </a:srgbClr>
                  </a:solidFill>
                </a:ln>
                <a:solidFill>
                  <a:srgbClr val="DADADA"/>
                </a:solidFill>
              </a:rPr>
              <a:t>2. Le nombre de ventes d’appartement par région pour le 1er semestre 2020</a:t>
            </a:r>
          </a:p>
        </p:txBody>
      </p:sp>
      <p:sp>
        <p:nvSpPr>
          <p:cNvPr id="4" name="ZoneTexte 3">
            <a:extLst>
              <a:ext uri="{FF2B5EF4-FFF2-40B4-BE49-F238E27FC236}">
                <a16:creationId xmlns:a16="http://schemas.microsoft.com/office/drawing/2014/main" id="{27FB24E1-2AA5-0FBF-305C-79E2904BC2D2}"/>
              </a:ext>
            </a:extLst>
          </p:cNvPr>
          <p:cNvSpPr txBox="1"/>
          <p:nvPr/>
        </p:nvSpPr>
        <p:spPr>
          <a:xfrm>
            <a:off x="5010685" y="1907443"/>
            <a:ext cx="2994408" cy="1200329"/>
          </a:xfrm>
          <a:prstGeom prst="rect">
            <a:avLst/>
          </a:prstGeom>
          <a:noFill/>
        </p:spPr>
        <p:txBody>
          <a:bodyPr wrap="square" rtlCol="0">
            <a:spAutoFit/>
          </a:bodyPr>
          <a:lstStyle/>
          <a:p>
            <a:r>
              <a:rPr lang="fr-FR" dirty="0">
                <a:solidFill>
                  <a:schemeClr val="bg1"/>
                </a:solidFill>
              </a:rPr>
              <a:t>Regroupe les ventes d’appartements par région sur le 1er semestre 2020.</a:t>
            </a:r>
            <a:br>
              <a:rPr lang="fr-FR" dirty="0">
                <a:solidFill>
                  <a:schemeClr val="bg1"/>
                </a:solidFill>
              </a:rPr>
            </a:br>
            <a:endParaRPr lang="fr-FR" dirty="0">
              <a:solidFill>
                <a:schemeClr val="bg1"/>
              </a:solidFill>
            </a:endParaRPr>
          </a:p>
        </p:txBody>
      </p:sp>
      <p:pic>
        <p:nvPicPr>
          <p:cNvPr id="7" name="Image 6">
            <a:extLst>
              <a:ext uri="{FF2B5EF4-FFF2-40B4-BE49-F238E27FC236}">
                <a16:creationId xmlns:a16="http://schemas.microsoft.com/office/drawing/2014/main" id="{3C981E6D-D041-53E3-7FDE-6D658DF6CD5F}"/>
              </a:ext>
            </a:extLst>
          </p:cNvPr>
          <p:cNvPicPr>
            <a:picLocks noChangeAspect="1"/>
          </p:cNvPicPr>
          <p:nvPr/>
        </p:nvPicPr>
        <p:blipFill>
          <a:blip r:embed="rId2"/>
          <a:stretch>
            <a:fillRect/>
          </a:stretch>
        </p:blipFill>
        <p:spPr>
          <a:xfrm>
            <a:off x="1859542" y="3899039"/>
            <a:ext cx="6302286" cy="2187130"/>
          </a:xfrm>
          <a:prstGeom prst="rect">
            <a:avLst/>
          </a:prstGeom>
        </p:spPr>
      </p:pic>
    </p:spTree>
    <p:extLst>
      <p:ext uri="{BB962C8B-B14F-4D97-AF65-F5344CB8AC3E}">
        <p14:creationId xmlns:p14="http://schemas.microsoft.com/office/powerpoint/2010/main" val="1860753341"/>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794860A3-F5AA-A41D-E631-EE90CAADA1B6}"/>
              </a:ext>
            </a:extLst>
          </p:cNvPr>
          <p:cNvPicPr>
            <a:picLocks noChangeAspect="1"/>
          </p:cNvPicPr>
          <p:nvPr/>
        </p:nvPicPr>
        <p:blipFill>
          <a:blip r:embed="rId2"/>
          <a:stretch>
            <a:fillRect/>
          </a:stretch>
        </p:blipFill>
        <p:spPr>
          <a:xfrm>
            <a:off x="2563956" y="1420956"/>
            <a:ext cx="4016088" cy="4016088"/>
          </a:xfrm>
          <a:prstGeom prst="rect">
            <a:avLst/>
          </a:prstGeom>
        </p:spPr>
      </p:pic>
    </p:spTree>
    <p:extLst>
      <p:ext uri="{BB962C8B-B14F-4D97-AF65-F5344CB8AC3E}">
        <p14:creationId xmlns:p14="http://schemas.microsoft.com/office/powerpoint/2010/main" val="2661337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75E14BD0-5D60-17C3-F7C2-AA3A1E357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8DC6D3-75BF-FC21-9692-4DC5D9F84915}"/>
              </a:ext>
            </a:extLst>
          </p:cNvPr>
          <p:cNvSpPr>
            <a:spLocks noGrp="1"/>
          </p:cNvSpPr>
          <p:nvPr>
            <p:ph type="title"/>
          </p:nvPr>
        </p:nvSpPr>
        <p:spPr>
          <a:xfrm>
            <a:off x="386918" y="522870"/>
            <a:ext cx="8370164" cy="1329596"/>
          </a:xfrm>
        </p:spPr>
        <p:txBody>
          <a:bodyPr>
            <a:normAutofit/>
          </a:bodyPr>
          <a:lstStyle/>
          <a:p>
            <a:r>
              <a:rPr lang="fr-FR" dirty="0"/>
              <a:t>Requêtes SQL &amp; résultats</a:t>
            </a:r>
          </a:p>
        </p:txBody>
      </p:sp>
      <p:sp>
        <p:nvSpPr>
          <p:cNvPr id="3" name="Content Placeholder 2">
            <a:extLst>
              <a:ext uri="{FF2B5EF4-FFF2-40B4-BE49-F238E27FC236}">
                <a16:creationId xmlns:a16="http://schemas.microsoft.com/office/drawing/2014/main" id="{BF0B0B5E-1719-22CF-7FC2-0FE24D70D874}"/>
              </a:ext>
            </a:extLst>
          </p:cNvPr>
          <p:cNvSpPr>
            <a:spLocks noGrp="1"/>
          </p:cNvSpPr>
          <p:nvPr>
            <p:ph idx="1"/>
          </p:nvPr>
        </p:nvSpPr>
        <p:spPr>
          <a:xfrm>
            <a:off x="202748" y="891507"/>
            <a:ext cx="8740084" cy="3567225"/>
          </a:xfrm>
        </p:spPr>
        <p:txBody>
          <a:bodyPr anchor="ctr">
            <a:normAutofit/>
          </a:bodyPr>
          <a:lstStyle/>
          <a:p>
            <a:pPr>
              <a:buClr>
                <a:srgbClr val="5058C7"/>
              </a:buClr>
            </a:pPr>
            <a:r>
              <a:rPr lang="fr-FR" dirty="0"/>
              <a:t>Résultats Requête 3</a:t>
            </a:r>
          </a:p>
          <a:p>
            <a:pPr marL="36900" indent="0">
              <a:buClr>
                <a:srgbClr val="5058C7"/>
              </a:buClr>
              <a:buNone/>
            </a:pPr>
            <a:r>
              <a:rPr lang="fr-FR" dirty="0"/>
              <a:t>3. Proportion des ventes d’appartements par le nombre de pièces</a:t>
            </a:r>
          </a:p>
          <a:p>
            <a:pPr marL="36900" indent="0">
              <a:buClr>
                <a:srgbClr val="5058C7"/>
              </a:buClr>
              <a:buNone/>
            </a:pPr>
            <a:r>
              <a:rPr lang="fr-FR" dirty="0"/>
              <a:t>Calcule le pourcentage de ventes selon le nombre de pièces</a:t>
            </a:r>
          </a:p>
        </p:txBody>
      </p:sp>
      <p:pic>
        <p:nvPicPr>
          <p:cNvPr id="13" name="Picture 10">
            <a:extLst>
              <a:ext uri="{FF2B5EF4-FFF2-40B4-BE49-F238E27FC236}">
                <a16:creationId xmlns:a16="http://schemas.microsoft.com/office/drawing/2014/main" id="{7AEE9CAC-347C-43C2-AE87-6BC5566E60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5424678" y="1"/>
            <a:ext cx="3719322" cy="6858000"/>
          </a:xfrm>
          <a:prstGeom prst="rect">
            <a:avLst/>
          </a:prstGeom>
        </p:spPr>
      </p:pic>
      <p:pic>
        <p:nvPicPr>
          <p:cNvPr id="5" name="Image 4">
            <a:extLst>
              <a:ext uri="{FF2B5EF4-FFF2-40B4-BE49-F238E27FC236}">
                <a16:creationId xmlns:a16="http://schemas.microsoft.com/office/drawing/2014/main" id="{933F4973-40C6-E4D6-3731-3B78D743275D}"/>
              </a:ext>
            </a:extLst>
          </p:cNvPr>
          <p:cNvPicPr>
            <a:picLocks noChangeAspect="1"/>
          </p:cNvPicPr>
          <p:nvPr/>
        </p:nvPicPr>
        <p:blipFill>
          <a:blip r:embed="rId4"/>
          <a:stretch>
            <a:fillRect/>
          </a:stretch>
        </p:blipFill>
        <p:spPr>
          <a:xfrm>
            <a:off x="1151099" y="3744355"/>
            <a:ext cx="6530906" cy="2606266"/>
          </a:xfrm>
          <a:prstGeom prst="rect">
            <a:avLst/>
          </a:prstGeom>
        </p:spPr>
      </p:pic>
    </p:spTree>
    <p:extLst>
      <p:ext uri="{BB962C8B-B14F-4D97-AF65-F5344CB8AC3E}">
        <p14:creationId xmlns:p14="http://schemas.microsoft.com/office/powerpoint/2010/main" val="46398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63665394-F5E2-BA7F-A57D-123BB68B3774}"/>
              </a:ext>
            </a:extLst>
          </p:cNvPr>
          <p:cNvPicPr>
            <a:picLocks noChangeAspect="1"/>
          </p:cNvPicPr>
          <p:nvPr/>
        </p:nvPicPr>
        <p:blipFill>
          <a:blip r:embed="rId2"/>
          <a:stretch>
            <a:fillRect/>
          </a:stretch>
        </p:blipFill>
        <p:spPr>
          <a:xfrm>
            <a:off x="2621111" y="2000126"/>
            <a:ext cx="3901778" cy="2857748"/>
          </a:xfrm>
          <a:prstGeom prst="rect">
            <a:avLst/>
          </a:prstGeom>
        </p:spPr>
      </p:pic>
    </p:spTree>
    <p:extLst>
      <p:ext uri="{BB962C8B-B14F-4D97-AF65-F5344CB8AC3E}">
        <p14:creationId xmlns:p14="http://schemas.microsoft.com/office/powerpoint/2010/main" val="1426587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CF18B6CD-1D39-0DB3-5097-FE5292C3B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281D84-2FB1-7AD4-17A1-69709EB558B0}"/>
              </a:ext>
            </a:extLst>
          </p:cNvPr>
          <p:cNvSpPr>
            <a:spLocks noGrp="1"/>
          </p:cNvSpPr>
          <p:nvPr>
            <p:ph type="title"/>
          </p:nvPr>
        </p:nvSpPr>
        <p:spPr>
          <a:xfrm>
            <a:off x="554066" y="609600"/>
            <a:ext cx="8035867" cy="1329596"/>
          </a:xfrm>
        </p:spPr>
        <p:txBody>
          <a:bodyPr>
            <a:normAutofit/>
          </a:bodyPr>
          <a:lstStyle/>
          <a:p>
            <a:r>
              <a:rPr dirty="0" err="1"/>
              <a:t>Requêtes</a:t>
            </a:r>
            <a:r>
              <a:rPr dirty="0"/>
              <a:t> SQL &amp; </a:t>
            </a:r>
            <a:r>
              <a:rPr dirty="0" err="1"/>
              <a:t>résultats</a:t>
            </a:r>
            <a:endParaRPr dirty="0"/>
          </a:p>
        </p:txBody>
      </p:sp>
      <p:sp>
        <p:nvSpPr>
          <p:cNvPr id="3" name="Content Placeholder 2">
            <a:extLst>
              <a:ext uri="{FF2B5EF4-FFF2-40B4-BE49-F238E27FC236}">
                <a16:creationId xmlns:a16="http://schemas.microsoft.com/office/drawing/2014/main" id="{AEE6B569-55E7-0066-CAAC-818682124BCC}"/>
              </a:ext>
            </a:extLst>
          </p:cNvPr>
          <p:cNvSpPr>
            <a:spLocks noGrp="1"/>
          </p:cNvSpPr>
          <p:nvPr>
            <p:ph idx="1"/>
          </p:nvPr>
        </p:nvSpPr>
        <p:spPr>
          <a:xfrm>
            <a:off x="342673" y="1112639"/>
            <a:ext cx="8458654" cy="3567225"/>
          </a:xfrm>
        </p:spPr>
        <p:txBody>
          <a:bodyPr anchor="ctr">
            <a:normAutofit/>
          </a:bodyPr>
          <a:lstStyle/>
          <a:p>
            <a:pPr>
              <a:buClr>
                <a:srgbClr val="535BC3"/>
              </a:buClr>
            </a:pPr>
            <a:r>
              <a:rPr lang="fr-FR" dirty="0"/>
              <a:t>Résultats Requête 4</a:t>
            </a:r>
          </a:p>
          <a:p>
            <a:pPr marL="36900" indent="0">
              <a:buClr>
                <a:srgbClr val="535BC3"/>
              </a:buClr>
              <a:buNone/>
            </a:pPr>
            <a:r>
              <a:rPr lang="fr-FR" dirty="0"/>
              <a:t>4. Liste des 10 départements où le prix du mètre carré est le plus élevé</a:t>
            </a:r>
          </a:p>
          <a:p>
            <a:pPr marL="36900" indent="0">
              <a:buClr>
                <a:srgbClr val="535BC3"/>
              </a:buClr>
              <a:buNone/>
            </a:pPr>
            <a:r>
              <a:rPr lang="fr-FR" dirty="0"/>
              <a:t>Calcule le prix moyen au m² dans chaque commune.</a:t>
            </a:r>
            <a:br>
              <a:rPr lang="fr-FR" dirty="0"/>
            </a:br>
            <a:r>
              <a:rPr lang="fr-FR" dirty="0"/>
              <a:t>Classe les communes les plus chères en France</a:t>
            </a:r>
          </a:p>
        </p:txBody>
      </p:sp>
      <p:pic>
        <p:nvPicPr>
          <p:cNvPr id="11" name="Picture 10">
            <a:extLst>
              <a:ext uri="{FF2B5EF4-FFF2-40B4-BE49-F238E27FC236}">
                <a16:creationId xmlns:a16="http://schemas.microsoft.com/office/drawing/2014/main" id="{7AEE9CAC-347C-43C2-AE87-6BC5566E60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5424678" y="1"/>
            <a:ext cx="3719322" cy="6858000"/>
          </a:xfrm>
          <a:prstGeom prst="rect">
            <a:avLst/>
          </a:prstGeom>
        </p:spPr>
      </p:pic>
      <p:pic>
        <p:nvPicPr>
          <p:cNvPr id="5" name="Image 4">
            <a:extLst>
              <a:ext uri="{FF2B5EF4-FFF2-40B4-BE49-F238E27FC236}">
                <a16:creationId xmlns:a16="http://schemas.microsoft.com/office/drawing/2014/main" id="{57155A0A-4402-EC1E-7EC2-7A61E8BF5454}"/>
              </a:ext>
            </a:extLst>
          </p:cNvPr>
          <p:cNvPicPr>
            <a:picLocks noChangeAspect="1"/>
          </p:cNvPicPr>
          <p:nvPr/>
        </p:nvPicPr>
        <p:blipFill>
          <a:blip r:embed="rId4"/>
          <a:stretch>
            <a:fillRect/>
          </a:stretch>
        </p:blipFill>
        <p:spPr>
          <a:xfrm>
            <a:off x="1052750" y="3908781"/>
            <a:ext cx="7038500" cy="2169154"/>
          </a:xfrm>
          <a:prstGeom prst="rect">
            <a:avLst/>
          </a:prstGeom>
        </p:spPr>
      </p:pic>
    </p:spTree>
    <p:extLst>
      <p:ext uri="{BB962C8B-B14F-4D97-AF65-F5344CB8AC3E}">
        <p14:creationId xmlns:p14="http://schemas.microsoft.com/office/powerpoint/2010/main" val="34854267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3B16B9FB-6B08-50B5-8D81-2B41F53380CD}"/>
              </a:ext>
            </a:extLst>
          </p:cNvPr>
          <p:cNvPicPr>
            <a:picLocks noChangeAspect="1"/>
          </p:cNvPicPr>
          <p:nvPr/>
        </p:nvPicPr>
        <p:blipFill>
          <a:blip r:embed="rId2"/>
          <a:stretch>
            <a:fillRect/>
          </a:stretch>
        </p:blipFill>
        <p:spPr>
          <a:xfrm>
            <a:off x="2602059" y="2202073"/>
            <a:ext cx="3939881" cy="2453853"/>
          </a:xfrm>
          <a:prstGeom prst="rect">
            <a:avLst/>
          </a:prstGeom>
        </p:spPr>
      </p:pic>
    </p:spTree>
    <p:extLst>
      <p:ext uri="{BB962C8B-B14F-4D97-AF65-F5344CB8AC3E}">
        <p14:creationId xmlns:p14="http://schemas.microsoft.com/office/powerpoint/2010/main" val="1533817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0F144-8107-2D8B-515B-8DDCE6ABD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BA48A4-E533-E10A-EC25-1B74B3EEF2D3}"/>
              </a:ext>
            </a:extLst>
          </p:cNvPr>
          <p:cNvSpPr>
            <a:spLocks noGrp="1"/>
          </p:cNvSpPr>
          <p:nvPr>
            <p:ph type="title"/>
          </p:nvPr>
        </p:nvSpPr>
        <p:spPr/>
        <p:txBody>
          <a:bodyPr/>
          <a:lstStyle/>
          <a:p>
            <a:r>
              <a:t>Requêtes SQL &amp; résultats</a:t>
            </a:r>
          </a:p>
        </p:txBody>
      </p:sp>
      <p:sp>
        <p:nvSpPr>
          <p:cNvPr id="3" name="Content Placeholder 2">
            <a:extLst>
              <a:ext uri="{FF2B5EF4-FFF2-40B4-BE49-F238E27FC236}">
                <a16:creationId xmlns:a16="http://schemas.microsoft.com/office/drawing/2014/main" id="{F016145A-BA8D-A476-A047-193B0707B30C}"/>
              </a:ext>
            </a:extLst>
          </p:cNvPr>
          <p:cNvSpPr>
            <a:spLocks noGrp="1"/>
          </p:cNvSpPr>
          <p:nvPr>
            <p:ph idx="1"/>
          </p:nvPr>
        </p:nvSpPr>
        <p:spPr>
          <a:xfrm>
            <a:off x="685346" y="1732450"/>
            <a:ext cx="7765322" cy="2654724"/>
          </a:xfrm>
        </p:spPr>
        <p:txBody>
          <a:bodyPr>
            <a:normAutofit/>
          </a:bodyPr>
          <a:lstStyle/>
          <a:p>
            <a:r>
              <a:rPr lang="fr-FR" dirty="0"/>
              <a:t>Résultats Requête 5</a:t>
            </a:r>
          </a:p>
          <a:p>
            <a:pPr marL="36900" indent="0">
              <a:buNone/>
            </a:pPr>
            <a:r>
              <a:rPr lang="fr-FR" dirty="0"/>
              <a:t>5. Prix moyen du mètre carré d’une maison en Île-de-France</a:t>
            </a:r>
          </a:p>
          <a:p>
            <a:pPr marL="36900" indent="0">
              <a:buNone/>
            </a:pPr>
            <a:r>
              <a:rPr lang="fr-FR" dirty="0"/>
              <a:t>Filtre les maisons vendues en Île-de-France</a:t>
            </a:r>
          </a:p>
        </p:txBody>
      </p:sp>
      <p:pic>
        <p:nvPicPr>
          <p:cNvPr id="5" name="Image 4">
            <a:extLst>
              <a:ext uri="{FF2B5EF4-FFF2-40B4-BE49-F238E27FC236}">
                <a16:creationId xmlns:a16="http://schemas.microsoft.com/office/drawing/2014/main" id="{59B064BF-F60E-B4AF-C71B-1B7DFCDBDBE1}"/>
              </a:ext>
            </a:extLst>
          </p:cNvPr>
          <p:cNvPicPr>
            <a:picLocks noChangeAspect="1"/>
          </p:cNvPicPr>
          <p:nvPr/>
        </p:nvPicPr>
        <p:blipFill>
          <a:blip r:embed="rId2"/>
          <a:stretch>
            <a:fillRect/>
          </a:stretch>
        </p:blipFill>
        <p:spPr>
          <a:xfrm>
            <a:off x="693332" y="3246808"/>
            <a:ext cx="7018628" cy="1699407"/>
          </a:xfrm>
          <a:prstGeom prst="rect">
            <a:avLst/>
          </a:prstGeom>
        </p:spPr>
      </p:pic>
      <p:pic>
        <p:nvPicPr>
          <p:cNvPr id="8" name="Image 7">
            <a:extLst>
              <a:ext uri="{FF2B5EF4-FFF2-40B4-BE49-F238E27FC236}">
                <a16:creationId xmlns:a16="http://schemas.microsoft.com/office/drawing/2014/main" id="{51270246-890E-82B8-BEB7-7188A413C780}"/>
              </a:ext>
            </a:extLst>
          </p:cNvPr>
          <p:cNvPicPr>
            <a:picLocks noChangeAspect="1"/>
          </p:cNvPicPr>
          <p:nvPr/>
        </p:nvPicPr>
        <p:blipFill>
          <a:blip r:embed="rId3"/>
          <a:stretch>
            <a:fillRect/>
          </a:stretch>
        </p:blipFill>
        <p:spPr>
          <a:xfrm>
            <a:off x="2547963" y="5420841"/>
            <a:ext cx="3810330" cy="624894"/>
          </a:xfrm>
          <a:prstGeom prst="rect">
            <a:avLst/>
          </a:prstGeom>
        </p:spPr>
      </p:pic>
    </p:spTree>
    <p:extLst>
      <p:ext uri="{BB962C8B-B14F-4D97-AF65-F5344CB8AC3E}">
        <p14:creationId xmlns:p14="http://schemas.microsoft.com/office/powerpoint/2010/main" val="728659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E5C50-4036-82D6-08BE-F29140B051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C6307C-0BBA-C03A-0F7F-481E9BD4EF60}"/>
              </a:ext>
            </a:extLst>
          </p:cNvPr>
          <p:cNvSpPr>
            <a:spLocks noGrp="1"/>
          </p:cNvSpPr>
          <p:nvPr>
            <p:ph type="title"/>
          </p:nvPr>
        </p:nvSpPr>
        <p:spPr/>
        <p:txBody>
          <a:bodyPr/>
          <a:lstStyle/>
          <a:p>
            <a:r>
              <a:t>Requêtes SQL &amp; résultats</a:t>
            </a:r>
          </a:p>
        </p:txBody>
      </p:sp>
      <p:sp>
        <p:nvSpPr>
          <p:cNvPr id="3" name="Content Placeholder 2">
            <a:extLst>
              <a:ext uri="{FF2B5EF4-FFF2-40B4-BE49-F238E27FC236}">
                <a16:creationId xmlns:a16="http://schemas.microsoft.com/office/drawing/2014/main" id="{121EC374-73DB-5731-95F2-67716A8AFFCC}"/>
              </a:ext>
            </a:extLst>
          </p:cNvPr>
          <p:cNvSpPr>
            <a:spLocks noGrp="1"/>
          </p:cNvSpPr>
          <p:nvPr>
            <p:ph idx="1"/>
          </p:nvPr>
        </p:nvSpPr>
        <p:spPr>
          <a:xfrm>
            <a:off x="685346" y="1732450"/>
            <a:ext cx="7765322" cy="3432937"/>
          </a:xfrm>
        </p:spPr>
        <p:txBody>
          <a:bodyPr>
            <a:normAutofit/>
          </a:bodyPr>
          <a:lstStyle/>
          <a:p>
            <a:r>
              <a:rPr lang="fr-FR" dirty="0"/>
              <a:t>Résultats Requête 6</a:t>
            </a:r>
          </a:p>
          <a:p>
            <a:pPr marL="36900" indent="0">
              <a:buNone/>
            </a:pPr>
            <a:r>
              <a:rPr lang="fr-FR" dirty="0"/>
              <a:t>6. Liste des 10 appartements les plus chers avec la région et le nombre de mètres carrés</a:t>
            </a:r>
          </a:p>
        </p:txBody>
      </p:sp>
      <p:pic>
        <p:nvPicPr>
          <p:cNvPr id="5" name="Image 4">
            <a:extLst>
              <a:ext uri="{FF2B5EF4-FFF2-40B4-BE49-F238E27FC236}">
                <a16:creationId xmlns:a16="http://schemas.microsoft.com/office/drawing/2014/main" id="{A87F669F-186B-0189-1295-031E85B1E479}"/>
              </a:ext>
            </a:extLst>
          </p:cNvPr>
          <p:cNvPicPr>
            <a:picLocks noChangeAspect="1"/>
          </p:cNvPicPr>
          <p:nvPr/>
        </p:nvPicPr>
        <p:blipFill>
          <a:blip r:embed="rId2"/>
          <a:stretch>
            <a:fillRect/>
          </a:stretch>
        </p:blipFill>
        <p:spPr>
          <a:xfrm>
            <a:off x="1706449" y="3429000"/>
            <a:ext cx="5723116" cy="2225233"/>
          </a:xfrm>
          <a:prstGeom prst="rect">
            <a:avLst/>
          </a:prstGeom>
        </p:spPr>
      </p:pic>
    </p:spTree>
    <p:extLst>
      <p:ext uri="{BB962C8B-B14F-4D97-AF65-F5344CB8AC3E}">
        <p14:creationId xmlns:p14="http://schemas.microsoft.com/office/powerpoint/2010/main" val="1796470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B1900609-A790-4EEF-E668-24980201C2DE}"/>
              </a:ext>
            </a:extLst>
          </p:cNvPr>
          <p:cNvPicPr>
            <a:picLocks noChangeAspect="1"/>
          </p:cNvPicPr>
          <p:nvPr/>
        </p:nvPicPr>
        <p:blipFill>
          <a:blip r:embed="rId2"/>
          <a:stretch>
            <a:fillRect/>
          </a:stretch>
        </p:blipFill>
        <p:spPr>
          <a:xfrm>
            <a:off x="2602059" y="2167780"/>
            <a:ext cx="3939881" cy="2522439"/>
          </a:xfrm>
          <a:prstGeom prst="rect">
            <a:avLst/>
          </a:prstGeom>
        </p:spPr>
      </p:pic>
    </p:spTree>
    <p:extLst>
      <p:ext uri="{BB962C8B-B14F-4D97-AF65-F5344CB8AC3E}">
        <p14:creationId xmlns:p14="http://schemas.microsoft.com/office/powerpoint/2010/main" val="32317172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ECFF9-7158-B4F1-37F2-D9909204EE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23CC71-67B8-B026-93A2-DC9F1CBA0969}"/>
              </a:ext>
            </a:extLst>
          </p:cNvPr>
          <p:cNvSpPr>
            <a:spLocks noGrp="1"/>
          </p:cNvSpPr>
          <p:nvPr>
            <p:ph type="title"/>
          </p:nvPr>
        </p:nvSpPr>
        <p:spPr/>
        <p:txBody>
          <a:bodyPr/>
          <a:lstStyle/>
          <a:p>
            <a:r>
              <a:t>Requêtes SQL &amp; résultats</a:t>
            </a:r>
          </a:p>
        </p:txBody>
      </p:sp>
      <p:sp>
        <p:nvSpPr>
          <p:cNvPr id="3" name="Content Placeholder 2">
            <a:extLst>
              <a:ext uri="{FF2B5EF4-FFF2-40B4-BE49-F238E27FC236}">
                <a16:creationId xmlns:a16="http://schemas.microsoft.com/office/drawing/2014/main" id="{CC54CAB5-650C-B895-3621-C05F8D70524F}"/>
              </a:ext>
            </a:extLst>
          </p:cNvPr>
          <p:cNvSpPr>
            <a:spLocks noGrp="1"/>
          </p:cNvSpPr>
          <p:nvPr>
            <p:ph idx="1"/>
          </p:nvPr>
        </p:nvSpPr>
        <p:spPr>
          <a:xfrm>
            <a:off x="685346" y="1412410"/>
            <a:ext cx="7765322" cy="2888188"/>
          </a:xfrm>
        </p:spPr>
        <p:txBody>
          <a:bodyPr>
            <a:normAutofit/>
          </a:bodyPr>
          <a:lstStyle/>
          <a:p>
            <a:r>
              <a:rPr lang="fr-FR" dirty="0"/>
              <a:t>Résultats Requête 7</a:t>
            </a:r>
          </a:p>
          <a:p>
            <a:pPr marL="36900" indent="0">
              <a:buNone/>
            </a:pPr>
            <a:r>
              <a:rPr lang="fr-FR" dirty="0"/>
              <a:t>7. Taux d’évolution du nombre de ventes entre le premier et le second trimestre de 2020</a:t>
            </a:r>
          </a:p>
          <a:p>
            <a:pPr marL="36900" indent="0">
              <a:buNone/>
            </a:pPr>
            <a:r>
              <a:rPr lang="fr-FR" dirty="0"/>
              <a:t>Compare le nombre de ventes entre le 1er et le 2e trimestre 2020.</a:t>
            </a:r>
            <a:br>
              <a:rPr lang="fr-FR" dirty="0"/>
            </a:br>
            <a:r>
              <a:rPr lang="fr-FR" dirty="0"/>
              <a:t>Calcule l’évolution en pourcentage</a:t>
            </a:r>
          </a:p>
        </p:txBody>
      </p:sp>
      <p:pic>
        <p:nvPicPr>
          <p:cNvPr id="5" name="Image 4">
            <a:extLst>
              <a:ext uri="{FF2B5EF4-FFF2-40B4-BE49-F238E27FC236}">
                <a16:creationId xmlns:a16="http://schemas.microsoft.com/office/drawing/2014/main" id="{7D7A55C0-5365-E3BE-8302-F799E93B593B}"/>
              </a:ext>
            </a:extLst>
          </p:cNvPr>
          <p:cNvPicPr>
            <a:picLocks noChangeAspect="1"/>
          </p:cNvPicPr>
          <p:nvPr/>
        </p:nvPicPr>
        <p:blipFill>
          <a:blip r:embed="rId2"/>
          <a:stretch>
            <a:fillRect/>
          </a:stretch>
        </p:blipFill>
        <p:spPr>
          <a:xfrm>
            <a:off x="1772182" y="3429000"/>
            <a:ext cx="5599635" cy="2226442"/>
          </a:xfrm>
          <a:prstGeom prst="rect">
            <a:avLst/>
          </a:prstGeom>
        </p:spPr>
      </p:pic>
      <p:pic>
        <p:nvPicPr>
          <p:cNvPr id="8" name="Image 7">
            <a:extLst>
              <a:ext uri="{FF2B5EF4-FFF2-40B4-BE49-F238E27FC236}">
                <a16:creationId xmlns:a16="http://schemas.microsoft.com/office/drawing/2014/main" id="{3007111F-8AE7-1B27-C137-FCC34BED393D}"/>
              </a:ext>
            </a:extLst>
          </p:cNvPr>
          <p:cNvPicPr>
            <a:picLocks noChangeAspect="1"/>
          </p:cNvPicPr>
          <p:nvPr/>
        </p:nvPicPr>
        <p:blipFill>
          <a:blip r:embed="rId3"/>
          <a:stretch>
            <a:fillRect/>
          </a:stretch>
        </p:blipFill>
        <p:spPr>
          <a:xfrm>
            <a:off x="2721695" y="5795187"/>
            <a:ext cx="3901778" cy="708721"/>
          </a:xfrm>
          <a:prstGeom prst="rect">
            <a:avLst/>
          </a:prstGeom>
        </p:spPr>
      </p:pic>
    </p:spTree>
    <p:extLst>
      <p:ext uri="{BB962C8B-B14F-4D97-AF65-F5344CB8AC3E}">
        <p14:creationId xmlns:p14="http://schemas.microsoft.com/office/powerpoint/2010/main" val="33402763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F0E4309A-57FD-A259-94AD-A37A49D0F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8F003-C9D6-4A03-364D-5849F275AFC4}"/>
              </a:ext>
            </a:extLst>
          </p:cNvPr>
          <p:cNvSpPr>
            <a:spLocks noGrp="1"/>
          </p:cNvSpPr>
          <p:nvPr>
            <p:ph type="title"/>
          </p:nvPr>
        </p:nvSpPr>
        <p:spPr>
          <a:xfrm>
            <a:off x="544234" y="580103"/>
            <a:ext cx="8055531" cy="1329596"/>
          </a:xfrm>
        </p:spPr>
        <p:txBody>
          <a:bodyPr>
            <a:normAutofit/>
          </a:bodyPr>
          <a:lstStyle/>
          <a:p>
            <a:r>
              <a:rPr dirty="0" err="1"/>
              <a:t>Requêtes</a:t>
            </a:r>
            <a:r>
              <a:rPr dirty="0"/>
              <a:t> SQL &amp; </a:t>
            </a:r>
            <a:r>
              <a:rPr dirty="0" err="1"/>
              <a:t>résultats</a:t>
            </a:r>
            <a:endParaRPr dirty="0"/>
          </a:p>
        </p:txBody>
      </p:sp>
      <p:sp>
        <p:nvSpPr>
          <p:cNvPr id="3" name="Content Placeholder 2">
            <a:extLst>
              <a:ext uri="{FF2B5EF4-FFF2-40B4-BE49-F238E27FC236}">
                <a16:creationId xmlns:a16="http://schemas.microsoft.com/office/drawing/2014/main" id="{DF5D1FCF-BFC6-27D6-CD9C-EB030C678D25}"/>
              </a:ext>
            </a:extLst>
          </p:cNvPr>
          <p:cNvSpPr>
            <a:spLocks noGrp="1"/>
          </p:cNvSpPr>
          <p:nvPr>
            <p:ph idx="1"/>
          </p:nvPr>
        </p:nvSpPr>
        <p:spPr>
          <a:xfrm>
            <a:off x="685346" y="829175"/>
            <a:ext cx="8385502" cy="3567225"/>
          </a:xfrm>
        </p:spPr>
        <p:txBody>
          <a:bodyPr anchor="ctr">
            <a:normAutofit/>
          </a:bodyPr>
          <a:lstStyle/>
          <a:p>
            <a:pPr>
              <a:buClr>
                <a:srgbClr val="5660CB"/>
              </a:buClr>
            </a:pPr>
            <a:r>
              <a:rPr lang="fr-FR" dirty="0"/>
              <a:t>Résultats Requête 8</a:t>
            </a:r>
          </a:p>
          <a:p>
            <a:pPr marL="36900" indent="0">
              <a:buClr>
                <a:srgbClr val="5660CB"/>
              </a:buClr>
              <a:buNone/>
            </a:pPr>
            <a:r>
              <a:rPr lang="fr-FR" dirty="0"/>
              <a:t>8. Le classement des régions par rapport au prix au mètre carré des appartement de plus de 4 pièces</a:t>
            </a:r>
          </a:p>
        </p:txBody>
      </p:sp>
      <p:pic>
        <p:nvPicPr>
          <p:cNvPr id="11" name="Picture 10">
            <a:extLst>
              <a:ext uri="{FF2B5EF4-FFF2-40B4-BE49-F238E27FC236}">
                <a16:creationId xmlns:a16="http://schemas.microsoft.com/office/drawing/2014/main" id="{7AEE9CAC-347C-43C2-AE87-6BC5566E60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5424678" y="1"/>
            <a:ext cx="3719322" cy="6858000"/>
          </a:xfrm>
          <a:prstGeom prst="rect">
            <a:avLst/>
          </a:prstGeom>
        </p:spPr>
      </p:pic>
      <p:pic>
        <p:nvPicPr>
          <p:cNvPr id="5" name="Image 4">
            <a:extLst>
              <a:ext uri="{FF2B5EF4-FFF2-40B4-BE49-F238E27FC236}">
                <a16:creationId xmlns:a16="http://schemas.microsoft.com/office/drawing/2014/main" id="{94C94855-094C-B418-A274-620D0D8EC359}"/>
              </a:ext>
            </a:extLst>
          </p:cNvPr>
          <p:cNvPicPr>
            <a:picLocks noChangeAspect="1"/>
          </p:cNvPicPr>
          <p:nvPr/>
        </p:nvPicPr>
        <p:blipFill>
          <a:blip r:embed="rId4"/>
          <a:stretch>
            <a:fillRect/>
          </a:stretch>
        </p:blipFill>
        <p:spPr>
          <a:xfrm>
            <a:off x="1329440" y="3479070"/>
            <a:ext cx="6857032" cy="2434019"/>
          </a:xfrm>
          <a:prstGeom prst="rect">
            <a:avLst/>
          </a:prstGeom>
        </p:spPr>
      </p:pic>
    </p:spTree>
    <p:extLst>
      <p:ext uri="{BB962C8B-B14F-4D97-AF65-F5344CB8AC3E}">
        <p14:creationId xmlns:p14="http://schemas.microsoft.com/office/powerpoint/2010/main" val="3537217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D694209A-6ACB-FF25-9039-2C24E59E0180}"/>
              </a:ext>
            </a:extLst>
          </p:cNvPr>
          <p:cNvPicPr>
            <a:picLocks noChangeAspect="1"/>
          </p:cNvPicPr>
          <p:nvPr/>
        </p:nvPicPr>
        <p:blipFill>
          <a:blip r:embed="rId2"/>
          <a:stretch>
            <a:fillRect/>
          </a:stretch>
        </p:blipFill>
        <p:spPr>
          <a:xfrm>
            <a:off x="2563956" y="1748644"/>
            <a:ext cx="4016088" cy="3360711"/>
          </a:xfrm>
          <a:prstGeom prst="rect">
            <a:avLst/>
          </a:prstGeom>
        </p:spPr>
      </p:pic>
    </p:spTree>
    <p:extLst>
      <p:ext uri="{BB962C8B-B14F-4D97-AF65-F5344CB8AC3E}">
        <p14:creationId xmlns:p14="http://schemas.microsoft.com/office/powerpoint/2010/main" val="33746633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7A2C17-8ADD-0D0A-32E4-3F53159F2FB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95CB840F-8E41-4CA5-B79B-25CC80AD23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8A8F05-5DEE-A8A9-505A-9491F2375441}"/>
              </a:ext>
            </a:extLst>
          </p:cNvPr>
          <p:cNvSpPr>
            <a:spLocks noGrp="1"/>
          </p:cNvSpPr>
          <p:nvPr>
            <p:ph type="title"/>
          </p:nvPr>
        </p:nvSpPr>
        <p:spPr>
          <a:xfrm>
            <a:off x="729674" y="314632"/>
            <a:ext cx="7800350" cy="970450"/>
          </a:xfrm>
        </p:spPr>
        <p:txBody>
          <a:bodyPr anchor="b">
            <a:noAutofit/>
          </a:bodyPr>
          <a:lstStyle/>
          <a:p>
            <a:r>
              <a:rPr lang="fr-FR" dirty="0">
                <a:ln>
                  <a:solidFill>
                    <a:srgbClr val="404040">
                      <a:alpha val="10000"/>
                    </a:srgbClr>
                  </a:solidFill>
                </a:ln>
                <a:solidFill>
                  <a:schemeClr val="bg1"/>
                </a:solidFill>
              </a:rPr>
              <a:t>Requêtes SQL &amp; résultats</a:t>
            </a:r>
          </a:p>
        </p:txBody>
      </p:sp>
      <p:sp>
        <p:nvSpPr>
          <p:cNvPr id="3" name="Content Placeholder 2">
            <a:extLst>
              <a:ext uri="{FF2B5EF4-FFF2-40B4-BE49-F238E27FC236}">
                <a16:creationId xmlns:a16="http://schemas.microsoft.com/office/drawing/2014/main" id="{249C9686-DD7B-F8E3-281B-9FB53402673B}"/>
              </a:ext>
            </a:extLst>
          </p:cNvPr>
          <p:cNvSpPr>
            <a:spLocks noGrp="1"/>
          </p:cNvSpPr>
          <p:nvPr>
            <p:ph idx="1"/>
          </p:nvPr>
        </p:nvSpPr>
        <p:spPr>
          <a:xfrm>
            <a:off x="658305" y="1580050"/>
            <a:ext cx="7943089" cy="4482084"/>
          </a:xfrm>
        </p:spPr>
        <p:txBody>
          <a:bodyPr anchor="t">
            <a:normAutofit/>
          </a:bodyPr>
          <a:lstStyle/>
          <a:p>
            <a:r>
              <a:rPr lang="fr-FR" dirty="0">
                <a:ln>
                  <a:solidFill>
                    <a:srgbClr val="404040">
                      <a:alpha val="10000"/>
                    </a:srgbClr>
                  </a:solidFill>
                </a:ln>
                <a:solidFill>
                  <a:schemeClr val="bg1"/>
                </a:solidFill>
              </a:rPr>
              <a:t>Résultats Requête 9</a:t>
            </a:r>
          </a:p>
          <a:p>
            <a:pPr marL="36900" indent="0">
              <a:buNone/>
            </a:pPr>
            <a:r>
              <a:rPr lang="fr-FR" dirty="0">
                <a:ln>
                  <a:solidFill>
                    <a:srgbClr val="404040">
                      <a:alpha val="10000"/>
                    </a:srgbClr>
                  </a:solidFill>
                </a:ln>
                <a:solidFill>
                  <a:schemeClr val="bg1"/>
                </a:solidFill>
              </a:rPr>
              <a:t>9. Liste des communes ayant eu au moins 50 ventes au 1er trimestre</a:t>
            </a:r>
          </a:p>
          <a:p>
            <a:pPr marL="36900" indent="0">
              <a:buNone/>
            </a:pPr>
            <a:endParaRPr lang="fr-FR" dirty="0">
              <a:ln>
                <a:solidFill>
                  <a:srgbClr val="404040">
                    <a:alpha val="10000"/>
                  </a:srgbClr>
                </a:solidFill>
              </a:ln>
              <a:solidFill>
                <a:srgbClr val="DADADA"/>
              </a:solidFill>
            </a:endParaRPr>
          </a:p>
          <a:p>
            <a:pPr marL="36900" indent="0">
              <a:buNone/>
            </a:pPr>
            <a:r>
              <a:rPr lang="fr-FR" dirty="0">
                <a:solidFill>
                  <a:schemeClr val="bg1"/>
                </a:solidFill>
              </a:rPr>
              <a:t>Filtre les communes ayant eu un fort volume de ventes début 2020.</a:t>
            </a:r>
            <a:br>
              <a:rPr lang="fr-FR" dirty="0">
                <a:solidFill>
                  <a:schemeClr val="bg1"/>
                </a:solidFill>
              </a:rPr>
            </a:br>
            <a:r>
              <a:rPr lang="fr-FR" dirty="0">
                <a:solidFill>
                  <a:schemeClr val="bg1"/>
                </a:solidFill>
              </a:rPr>
              <a:t>Seuil fixé à 50 ventes minimum.</a:t>
            </a:r>
            <a:endParaRPr lang="fr-FR" dirty="0">
              <a:ln>
                <a:solidFill>
                  <a:srgbClr val="404040">
                    <a:alpha val="10000"/>
                  </a:srgbClr>
                </a:solidFill>
              </a:ln>
              <a:solidFill>
                <a:schemeClr val="bg1"/>
              </a:solidFill>
            </a:endParaRPr>
          </a:p>
        </p:txBody>
      </p:sp>
      <p:pic>
        <p:nvPicPr>
          <p:cNvPr id="6" name="Image 5">
            <a:extLst>
              <a:ext uri="{FF2B5EF4-FFF2-40B4-BE49-F238E27FC236}">
                <a16:creationId xmlns:a16="http://schemas.microsoft.com/office/drawing/2014/main" id="{D60D7C91-B27A-AD66-C6F6-398EF4FA0401}"/>
              </a:ext>
            </a:extLst>
          </p:cNvPr>
          <p:cNvPicPr>
            <a:picLocks noChangeAspect="1"/>
          </p:cNvPicPr>
          <p:nvPr/>
        </p:nvPicPr>
        <p:blipFill>
          <a:blip r:embed="rId2"/>
          <a:stretch>
            <a:fillRect/>
          </a:stretch>
        </p:blipFill>
        <p:spPr>
          <a:xfrm>
            <a:off x="1645666" y="4026850"/>
            <a:ext cx="5852667" cy="1714649"/>
          </a:xfrm>
          <a:prstGeom prst="rect">
            <a:avLst/>
          </a:prstGeom>
        </p:spPr>
      </p:pic>
    </p:spTree>
    <p:extLst>
      <p:ext uri="{BB962C8B-B14F-4D97-AF65-F5344CB8AC3E}">
        <p14:creationId xmlns:p14="http://schemas.microsoft.com/office/powerpoint/2010/main" val="2413976855"/>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D52D7783-1A4C-DF06-4DF3-603D7D446A57}"/>
              </a:ext>
            </a:extLst>
          </p:cNvPr>
          <p:cNvPicPr>
            <a:picLocks noChangeAspect="1"/>
          </p:cNvPicPr>
          <p:nvPr/>
        </p:nvPicPr>
        <p:blipFill>
          <a:blip r:embed="rId2"/>
          <a:stretch>
            <a:fillRect/>
          </a:stretch>
        </p:blipFill>
        <p:spPr>
          <a:xfrm>
            <a:off x="674032" y="744448"/>
            <a:ext cx="4153260" cy="5113463"/>
          </a:xfrm>
          <a:prstGeom prst="rect">
            <a:avLst/>
          </a:prstGeom>
        </p:spPr>
      </p:pic>
      <p:pic>
        <p:nvPicPr>
          <p:cNvPr id="6" name="Image 5">
            <a:extLst>
              <a:ext uri="{FF2B5EF4-FFF2-40B4-BE49-F238E27FC236}">
                <a16:creationId xmlns:a16="http://schemas.microsoft.com/office/drawing/2014/main" id="{2D85EE35-A4B9-7BC4-40DD-8246030DBC50}"/>
              </a:ext>
            </a:extLst>
          </p:cNvPr>
          <p:cNvPicPr>
            <a:picLocks noChangeAspect="1"/>
          </p:cNvPicPr>
          <p:nvPr/>
        </p:nvPicPr>
        <p:blipFill>
          <a:blip r:embed="rId3"/>
          <a:stretch>
            <a:fillRect/>
          </a:stretch>
        </p:blipFill>
        <p:spPr>
          <a:xfrm>
            <a:off x="5618297" y="875865"/>
            <a:ext cx="2331922" cy="4359018"/>
          </a:xfrm>
          <a:prstGeom prst="rect">
            <a:avLst/>
          </a:prstGeom>
        </p:spPr>
      </p:pic>
      <p:pic>
        <p:nvPicPr>
          <p:cNvPr id="9" name="Image 8">
            <a:extLst>
              <a:ext uri="{FF2B5EF4-FFF2-40B4-BE49-F238E27FC236}">
                <a16:creationId xmlns:a16="http://schemas.microsoft.com/office/drawing/2014/main" id="{E4CDA817-8E49-186E-B854-DE7361B28369}"/>
              </a:ext>
            </a:extLst>
          </p:cNvPr>
          <p:cNvPicPr>
            <a:picLocks noChangeAspect="1"/>
          </p:cNvPicPr>
          <p:nvPr/>
        </p:nvPicPr>
        <p:blipFill>
          <a:blip r:embed="rId4"/>
          <a:stretch>
            <a:fillRect/>
          </a:stretch>
        </p:blipFill>
        <p:spPr>
          <a:xfrm>
            <a:off x="5618297" y="5234883"/>
            <a:ext cx="2331922" cy="365792"/>
          </a:xfrm>
          <a:prstGeom prst="rect">
            <a:avLst/>
          </a:prstGeom>
        </p:spPr>
      </p:pic>
    </p:spTree>
    <p:extLst>
      <p:ext uri="{BB962C8B-B14F-4D97-AF65-F5344CB8AC3E}">
        <p14:creationId xmlns:p14="http://schemas.microsoft.com/office/powerpoint/2010/main" val="12886349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231F1-E421-8EAE-8CEF-A72DA380B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A3C68D-5B79-A7CF-AB2D-D6222C6A7452}"/>
              </a:ext>
            </a:extLst>
          </p:cNvPr>
          <p:cNvSpPr>
            <a:spLocks noGrp="1"/>
          </p:cNvSpPr>
          <p:nvPr>
            <p:ph type="title"/>
          </p:nvPr>
        </p:nvSpPr>
        <p:spPr/>
        <p:txBody>
          <a:bodyPr/>
          <a:lstStyle/>
          <a:p>
            <a:r>
              <a:t>Requêtes SQL &amp; résultats</a:t>
            </a:r>
          </a:p>
        </p:txBody>
      </p:sp>
      <p:sp>
        <p:nvSpPr>
          <p:cNvPr id="3" name="Content Placeholder 2">
            <a:extLst>
              <a:ext uri="{FF2B5EF4-FFF2-40B4-BE49-F238E27FC236}">
                <a16:creationId xmlns:a16="http://schemas.microsoft.com/office/drawing/2014/main" id="{93B3B393-264B-9136-0808-0BABE6875318}"/>
              </a:ext>
            </a:extLst>
          </p:cNvPr>
          <p:cNvSpPr>
            <a:spLocks noGrp="1"/>
          </p:cNvSpPr>
          <p:nvPr>
            <p:ph idx="1"/>
          </p:nvPr>
        </p:nvSpPr>
        <p:spPr>
          <a:xfrm>
            <a:off x="685346" y="1767059"/>
            <a:ext cx="7765322" cy="2752001"/>
          </a:xfrm>
        </p:spPr>
        <p:txBody>
          <a:bodyPr>
            <a:normAutofit/>
          </a:bodyPr>
          <a:lstStyle/>
          <a:p>
            <a:r>
              <a:rPr lang="fr-FR" dirty="0">
                <a:solidFill>
                  <a:schemeClr val="tx1"/>
                </a:solidFill>
              </a:rPr>
              <a:t>Résultats Requête 10</a:t>
            </a:r>
          </a:p>
          <a:p>
            <a:pPr marL="36900" indent="0">
              <a:buNone/>
            </a:pPr>
            <a:r>
              <a:rPr lang="fr-FR" dirty="0">
                <a:solidFill>
                  <a:schemeClr val="tx1"/>
                </a:solidFill>
              </a:rPr>
              <a:t>10. Différence en pourcentage du prix au mètre carré entre un appartement de 2 pièces et un appartement de 3 pièces</a:t>
            </a:r>
          </a:p>
          <a:p>
            <a:pPr marL="36900" indent="0">
              <a:buNone/>
            </a:pPr>
            <a:r>
              <a:rPr lang="fr-FR" dirty="0">
                <a:solidFill>
                  <a:schemeClr val="tx1"/>
                </a:solidFill>
              </a:rPr>
              <a:t>Compare le prix au m² des appartements 2 pièces vs 3 pièces.</a:t>
            </a:r>
            <a:br>
              <a:rPr lang="fr-FR" dirty="0">
                <a:solidFill>
                  <a:schemeClr val="tx1"/>
                </a:solidFill>
              </a:rPr>
            </a:br>
            <a:r>
              <a:rPr lang="fr-FR" dirty="0">
                <a:solidFill>
                  <a:schemeClr val="tx1"/>
                </a:solidFill>
              </a:rPr>
              <a:t>Donne l’écart en pourcentage</a:t>
            </a:r>
          </a:p>
        </p:txBody>
      </p:sp>
      <p:pic>
        <p:nvPicPr>
          <p:cNvPr id="8" name="Image 7">
            <a:extLst>
              <a:ext uri="{FF2B5EF4-FFF2-40B4-BE49-F238E27FC236}">
                <a16:creationId xmlns:a16="http://schemas.microsoft.com/office/drawing/2014/main" id="{4AA92CD3-AC5D-2722-1313-6A355686E8CE}"/>
              </a:ext>
            </a:extLst>
          </p:cNvPr>
          <p:cNvPicPr>
            <a:picLocks noChangeAspect="1"/>
          </p:cNvPicPr>
          <p:nvPr/>
        </p:nvPicPr>
        <p:blipFill>
          <a:blip r:embed="rId2"/>
          <a:stretch>
            <a:fillRect/>
          </a:stretch>
        </p:blipFill>
        <p:spPr>
          <a:xfrm>
            <a:off x="1779617" y="4373910"/>
            <a:ext cx="4785775" cy="701101"/>
          </a:xfrm>
          <a:prstGeom prst="rect">
            <a:avLst/>
          </a:prstGeom>
        </p:spPr>
      </p:pic>
    </p:spTree>
    <p:extLst>
      <p:ext uri="{BB962C8B-B14F-4D97-AF65-F5344CB8AC3E}">
        <p14:creationId xmlns:p14="http://schemas.microsoft.com/office/powerpoint/2010/main" val="3050986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76E99E26-FC03-85EB-F5A5-A542049D2034}"/>
              </a:ext>
            </a:extLst>
          </p:cNvPr>
          <p:cNvPicPr>
            <a:picLocks noChangeAspect="1"/>
          </p:cNvPicPr>
          <p:nvPr/>
        </p:nvPicPr>
        <p:blipFill>
          <a:blip r:embed="rId2"/>
          <a:stretch>
            <a:fillRect/>
          </a:stretch>
        </p:blipFill>
        <p:spPr>
          <a:xfrm>
            <a:off x="1364701" y="1588159"/>
            <a:ext cx="6414598" cy="3681681"/>
          </a:xfrm>
          <a:prstGeom prst="rect">
            <a:avLst/>
          </a:prstGeom>
        </p:spPr>
      </p:pic>
    </p:spTree>
    <p:extLst>
      <p:ext uri="{BB962C8B-B14F-4D97-AF65-F5344CB8AC3E}">
        <p14:creationId xmlns:p14="http://schemas.microsoft.com/office/powerpoint/2010/main" val="36767959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C77276-9011-8F64-7636-26F60DC7380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95CB840F-8E41-4CA5-B79B-25CC80AD23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D53349-EE66-3E81-F713-4D254FEE4D61}"/>
              </a:ext>
            </a:extLst>
          </p:cNvPr>
          <p:cNvSpPr>
            <a:spLocks noGrp="1"/>
          </p:cNvSpPr>
          <p:nvPr>
            <p:ph type="title"/>
          </p:nvPr>
        </p:nvSpPr>
        <p:spPr>
          <a:xfrm>
            <a:off x="764937" y="407680"/>
            <a:ext cx="7711402" cy="970450"/>
          </a:xfrm>
        </p:spPr>
        <p:txBody>
          <a:bodyPr anchor="b">
            <a:noAutofit/>
          </a:bodyPr>
          <a:lstStyle/>
          <a:p>
            <a:r>
              <a:rPr lang="fr-FR" dirty="0">
                <a:ln>
                  <a:solidFill>
                    <a:srgbClr val="404040">
                      <a:alpha val="10000"/>
                    </a:srgbClr>
                  </a:solidFill>
                </a:ln>
                <a:solidFill>
                  <a:schemeClr val="bg1"/>
                </a:solidFill>
              </a:rPr>
              <a:t>Requêtes SQL &amp; résultats</a:t>
            </a:r>
          </a:p>
        </p:txBody>
      </p:sp>
      <p:sp>
        <p:nvSpPr>
          <p:cNvPr id="3" name="Content Placeholder 2">
            <a:extLst>
              <a:ext uri="{FF2B5EF4-FFF2-40B4-BE49-F238E27FC236}">
                <a16:creationId xmlns:a16="http://schemas.microsoft.com/office/drawing/2014/main" id="{1AC6274C-54F3-1E6C-E80B-C2FD0EA5797C}"/>
              </a:ext>
            </a:extLst>
          </p:cNvPr>
          <p:cNvSpPr>
            <a:spLocks noGrp="1"/>
          </p:cNvSpPr>
          <p:nvPr>
            <p:ph idx="1"/>
          </p:nvPr>
        </p:nvSpPr>
        <p:spPr>
          <a:xfrm>
            <a:off x="483724" y="1785810"/>
            <a:ext cx="8273828" cy="970450"/>
          </a:xfrm>
        </p:spPr>
        <p:txBody>
          <a:bodyPr anchor="t">
            <a:noAutofit/>
          </a:bodyPr>
          <a:lstStyle/>
          <a:p>
            <a:r>
              <a:rPr lang="fr-FR" dirty="0">
                <a:ln>
                  <a:solidFill>
                    <a:srgbClr val="404040">
                      <a:alpha val="10000"/>
                    </a:srgbClr>
                  </a:solidFill>
                </a:ln>
                <a:solidFill>
                  <a:schemeClr val="bg1"/>
                </a:solidFill>
              </a:rPr>
              <a:t>Résultats Requête 11</a:t>
            </a:r>
          </a:p>
          <a:p>
            <a:pPr marL="36900" indent="0">
              <a:buNone/>
            </a:pPr>
            <a:r>
              <a:rPr lang="fr-FR" dirty="0">
                <a:ln>
                  <a:solidFill>
                    <a:srgbClr val="404040">
                      <a:alpha val="10000"/>
                    </a:srgbClr>
                  </a:solidFill>
                </a:ln>
                <a:solidFill>
                  <a:schemeClr val="bg1"/>
                </a:solidFill>
              </a:rPr>
              <a:t>Les moyennes de valeurs foncières pour le top 3 des communes des départements 6, 13, 33, 59 et 69</a:t>
            </a:r>
          </a:p>
          <a:p>
            <a:pPr marL="36900" indent="0">
              <a:buNone/>
            </a:pPr>
            <a:endParaRPr lang="fr-FR" dirty="0">
              <a:ln>
                <a:solidFill>
                  <a:srgbClr val="404040">
                    <a:alpha val="10000"/>
                  </a:srgbClr>
                </a:solidFill>
              </a:ln>
              <a:solidFill>
                <a:srgbClr val="DADADA"/>
              </a:solidFill>
            </a:endParaRPr>
          </a:p>
          <a:p>
            <a:pPr marL="36900" indent="0">
              <a:buNone/>
            </a:pPr>
            <a:endParaRPr lang="fr-FR" dirty="0">
              <a:ln>
                <a:solidFill>
                  <a:srgbClr val="404040">
                    <a:alpha val="10000"/>
                  </a:srgbClr>
                </a:solidFill>
              </a:ln>
              <a:solidFill>
                <a:srgbClr val="DADADA"/>
              </a:solidFill>
            </a:endParaRPr>
          </a:p>
        </p:txBody>
      </p:sp>
      <p:sp>
        <p:nvSpPr>
          <p:cNvPr id="7" name="Rectangle 3">
            <a:extLst>
              <a:ext uri="{FF2B5EF4-FFF2-40B4-BE49-F238E27FC236}">
                <a16:creationId xmlns:a16="http://schemas.microsoft.com/office/drawing/2014/main" id="{1965C076-FED8-299A-448B-C353ACF1CFFB}"/>
              </a:ext>
            </a:extLst>
          </p:cNvPr>
          <p:cNvSpPr>
            <a:spLocks noChangeArrowheads="1"/>
          </p:cNvSpPr>
          <p:nvPr/>
        </p:nvSpPr>
        <p:spPr bwMode="auto">
          <a:xfrm>
            <a:off x="483724" y="2990130"/>
            <a:ext cx="817655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bg1"/>
                </a:solidFill>
                <a:effectLst/>
              </a:rPr>
              <a:t>Pour 5 départements, affiche les 3 communes avec les biens les plus chers.</a:t>
            </a:r>
            <a:br>
              <a:rPr kumimoji="0" lang="fr-FR" altLang="fr-FR" sz="1800" b="0" i="0" u="none" strike="noStrike" cap="none" normalizeH="0" baseline="0" dirty="0">
                <a:ln>
                  <a:noFill/>
                </a:ln>
                <a:solidFill>
                  <a:schemeClr val="bg1"/>
                </a:solidFill>
                <a:effectLst/>
              </a:rPr>
            </a:br>
            <a:r>
              <a:rPr kumimoji="0" lang="fr-FR" altLang="fr-FR" sz="1800" b="0" i="0" u="none" strike="noStrike" cap="none" normalizeH="0" baseline="0" dirty="0">
                <a:ln>
                  <a:noFill/>
                </a:ln>
                <a:solidFill>
                  <a:schemeClr val="bg1"/>
                </a:solidFill>
                <a:effectLst/>
              </a:rPr>
              <a:t>Classement par moyenne de la valeur foncière</a:t>
            </a:r>
            <a:endParaRPr lang="fr-FR" altLang="fr-FR" dirty="0">
              <a:solidFill>
                <a:schemeClr val="bg1"/>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lang="fr-FR" altLang="fr-FR" dirty="0">
              <a:solidFill>
                <a:schemeClr val="bg1"/>
              </a:solidFill>
            </a:endParaRPr>
          </a:p>
          <a:p>
            <a:pPr defTabSz="914400" eaLnBrk="0" fontAlgn="base" hangingPunct="0">
              <a:spcBef>
                <a:spcPct val="0"/>
              </a:spcBef>
              <a:spcAft>
                <a:spcPct val="0"/>
              </a:spcAft>
            </a:pPr>
            <a:r>
              <a:rPr lang="fr-FR" sz="1800" kern="100" dirty="0">
                <a:solidFill>
                  <a:schemeClr val="bg1"/>
                </a:solidFill>
                <a:effectLst/>
                <a:ea typeface="Aptos" panose="020B0004020202020204" pitchFamily="34" charset="0"/>
                <a:cs typeface="Times New Roman" panose="02020603050405020304" pitchFamily="18" charset="0"/>
              </a:rPr>
              <a:t>Cette requête sélectionne les trois communes les plus chères en termes de valeur foncière moyenne dans les départements 6, 13, 33, 59 et 69. Elle utilise un classement (RANK()) pour attribuer un rang aux communes, en prenant en compte les égalités dans les prix moyens.</a:t>
            </a:r>
            <a:endParaRPr kumimoji="0" lang="fr-FR" altLang="fr-FR" sz="1800" b="0" i="0" u="none" strike="noStrike" cap="none" normalizeH="0" baseline="0" dirty="0">
              <a:ln>
                <a:noFill/>
              </a:ln>
              <a:solidFill>
                <a:schemeClr val="bg1"/>
              </a:solidFill>
              <a:effectLst/>
            </a:endParaRPr>
          </a:p>
        </p:txBody>
      </p:sp>
    </p:spTree>
    <p:extLst>
      <p:ext uri="{BB962C8B-B14F-4D97-AF65-F5344CB8AC3E}">
        <p14:creationId xmlns:p14="http://schemas.microsoft.com/office/powerpoint/2010/main" val="783327954"/>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CA3CD12-DAB7-4339-7346-216CCF7B1CA1}"/>
              </a:ext>
            </a:extLst>
          </p:cNvPr>
          <p:cNvPicPr>
            <a:picLocks noChangeAspect="1"/>
          </p:cNvPicPr>
          <p:nvPr/>
        </p:nvPicPr>
        <p:blipFill>
          <a:blip r:embed="rId2"/>
          <a:stretch>
            <a:fillRect/>
          </a:stretch>
        </p:blipFill>
        <p:spPr>
          <a:xfrm>
            <a:off x="1371322" y="1520024"/>
            <a:ext cx="6401355" cy="3817951"/>
          </a:xfrm>
          <a:prstGeom prst="rect">
            <a:avLst/>
          </a:prstGeom>
        </p:spPr>
      </p:pic>
    </p:spTree>
    <p:extLst>
      <p:ext uri="{BB962C8B-B14F-4D97-AF65-F5344CB8AC3E}">
        <p14:creationId xmlns:p14="http://schemas.microsoft.com/office/powerpoint/2010/main" val="32126346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D6BA26EA-DECC-031E-1432-2CE1428C79D0}"/>
              </a:ext>
            </a:extLst>
          </p:cNvPr>
          <p:cNvPicPr>
            <a:picLocks noChangeAspect="1"/>
          </p:cNvPicPr>
          <p:nvPr/>
        </p:nvPicPr>
        <p:blipFill>
          <a:blip r:embed="rId2"/>
          <a:stretch>
            <a:fillRect/>
          </a:stretch>
        </p:blipFill>
        <p:spPr>
          <a:xfrm>
            <a:off x="2506801" y="1481921"/>
            <a:ext cx="4130398" cy="3894157"/>
          </a:xfrm>
          <a:prstGeom prst="rect">
            <a:avLst/>
          </a:prstGeom>
        </p:spPr>
      </p:pic>
    </p:spTree>
    <p:extLst>
      <p:ext uri="{BB962C8B-B14F-4D97-AF65-F5344CB8AC3E}">
        <p14:creationId xmlns:p14="http://schemas.microsoft.com/office/powerpoint/2010/main" val="41067236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9817A99-996E-4DC7-A238-949CBCD4D2EF}"/>
              </a:ext>
            </a:extLst>
          </p:cNvPr>
          <p:cNvSpPr txBox="1"/>
          <p:nvPr/>
        </p:nvSpPr>
        <p:spPr>
          <a:xfrm>
            <a:off x="505837" y="1485780"/>
            <a:ext cx="7684851" cy="1323439"/>
          </a:xfrm>
          <a:prstGeom prst="rect">
            <a:avLst/>
          </a:prstGeom>
          <a:noFill/>
        </p:spPr>
        <p:txBody>
          <a:bodyPr wrap="square">
            <a:spAutoFit/>
          </a:bodyPr>
          <a:lstStyle/>
          <a:p>
            <a:r>
              <a:rPr lang="fr-FR" sz="2000" dirty="0">
                <a:ln>
                  <a:solidFill>
                    <a:srgbClr val="404040">
                      <a:alpha val="10000"/>
                    </a:srgbClr>
                  </a:solidFill>
                </a:ln>
              </a:rPr>
              <a:t>Résultats Requête 12 : </a:t>
            </a:r>
          </a:p>
          <a:p>
            <a:pPr marL="36900" indent="0">
              <a:buNone/>
            </a:pPr>
            <a:endParaRPr lang="fr-FR" sz="2000" dirty="0">
              <a:ln>
                <a:solidFill>
                  <a:srgbClr val="404040">
                    <a:alpha val="10000"/>
                  </a:srgbClr>
                </a:solidFill>
              </a:ln>
            </a:endParaRPr>
          </a:p>
          <a:p>
            <a:pPr marL="36900"/>
            <a:r>
              <a:rPr lang="fr-FR" sz="2000" dirty="0">
                <a:ln>
                  <a:solidFill>
                    <a:srgbClr val="404040">
                      <a:alpha val="10000"/>
                    </a:srgbClr>
                  </a:solidFill>
                </a:ln>
              </a:rPr>
              <a:t>12. Les 20 communes avec le plus de transactions pour 1000 habitants pour les communes qui dépassent les 10 000 habitants</a:t>
            </a:r>
          </a:p>
        </p:txBody>
      </p:sp>
      <p:sp>
        <p:nvSpPr>
          <p:cNvPr id="4" name="Title 1">
            <a:extLst>
              <a:ext uri="{FF2B5EF4-FFF2-40B4-BE49-F238E27FC236}">
                <a16:creationId xmlns:a16="http://schemas.microsoft.com/office/drawing/2014/main" id="{687119A0-C762-68C0-1379-86953AEC0AE6}"/>
              </a:ext>
            </a:extLst>
          </p:cNvPr>
          <p:cNvSpPr txBox="1">
            <a:spLocks/>
          </p:cNvSpPr>
          <p:nvPr/>
        </p:nvSpPr>
        <p:spPr>
          <a:xfrm>
            <a:off x="505837" y="111580"/>
            <a:ext cx="4781599" cy="970450"/>
          </a:xfrm>
          <a:prstGeom prst="rect">
            <a:avLst/>
          </a:prstGeom>
        </p:spPr>
        <p:txBody>
          <a:bodyPr anchor="b">
            <a:norm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fr-FR" sz="2400" dirty="0">
                <a:ln>
                  <a:solidFill>
                    <a:srgbClr val="404040">
                      <a:alpha val="10000"/>
                    </a:srgbClr>
                  </a:solidFill>
                </a:ln>
                <a:solidFill>
                  <a:schemeClr val="tx1"/>
                </a:solidFill>
              </a:rPr>
              <a:t>Requêtes SQL &amp; résultats</a:t>
            </a:r>
          </a:p>
        </p:txBody>
      </p:sp>
      <p:sp>
        <p:nvSpPr>
          <p:cNvPr id="5" name="Rectangle 1">
            <a:extLst>
              <a:ext uri="{FF2B5EF4-FFF2-40B4-BE49-F238E27FC236}">
                <a16:creationId xmlns:a16="http://schemas.microsoft.com/office/drawing/2014/main" id="{783B9C93-1BFA-C875-EC93-CF5E2B82E009}"/>
              </a:ext>
            </a:extLst>
          </p:cNvPr>
          <p:cNvSpPr>
            <a:spLocks noChangeArrowheads="1"/>
          </p:cNvSpPr>
          <p:nvPr/>
        </p:nvSpPr>
        <p:spPr bwMode="auto">
          <a:xfrm>
            <a:off x="505837" y="3094275"/>
            <a:ext cx="813232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rPr>
              <a:t>Normalise le nombre de ventes par rapport à la population (&gt; 10 000 hab.).</a:t>
            </a:r>
            <a:br>
              <a:rPr kumimoji="0" lang="fr-FR" altLang="fr-FR" sz="1800" b="0" i="0" u="none" strike="noStrike" cap="none" normalizeH="0" baseline="0" dirty="0">
                <a:ln>
                  <a:noFill/>
                </a:ln>
                <a:solidFill>
                  <a:schemeClr val="tx1"/>
                </a:solidFill>
                <a:effectLst/>
              </a:rPr>
            </a:br>
            <a:r>
              <a:rPr kumimoji="0" lang="fr-FR" altLang="fr-FR" sz="1800" b="0" i="0" u="none" strike="noStrike" cap="none" normalizeH="0" baseline="0" dirty="0">
                <a:ln>
                  <a:noFill/>
                </a:ln>
                <a:solidFill>
                  <a:schemeClr val="tx1"/>
                </a:solidFill>
                <a:effectLst/>
              </a:rPr>
              <a:t>Identifie les communes où la pression immobilière est la plus forte</a:t>
            </a:r>
            <a:endParaRPr lang="fr-FR" altLang="fr-FR"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endParaRPr>
          </a:p>
          <a:p>
            <a:pPr defTabSz="914400" eaLnBrk="0" fontAlgn="base" hangingPunct="0">
              <a:spcBef>
                <a:spcPct val="0"/>
              </a:spcBef>
              <a:spcAft>
                <a:spcPct val="0"/>
              </a:spcAft>
            </a:pPr>
            <a:r>
              <a:rPr lang="fr-FR" sz="1800" kern="100" dirty="0">
                <a:effectLst/>
                <a:ea typeface="Aptos" panose="020B0004020202020204" pitchFamily="34" charset="0"/>
                <a:cs typeface="Times New Roman" panose="02020603050405020304" pitchFamily="18" charset="0"/>
              </a:rPr>
              <a:t>Cette requête identifie les 20 communes de plus de 10 000 habitants où le nombre de ventes rapporté à la population est le plus élevé. Le calcul du ratio est fait en divisant le nombre de ventes par la population municipale.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1188540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23F40E39-0032-6598-CB89-AF380E94BDE2}"/>
              </a:ext>
            </a:extLst>
          </p:cNvPr>
          <p:cNvPicPr>
            <a:picLocks noChangeAspect="1"/>
          </p:cNvPicPr>
          <p:nvPr/>
        </p:nvPicPr>
        <p:blipFill>
          <a:blip r:embed="rId2"/>
          <a:stretch>
            <a:fillRect/>
          </a:stretch>
        </p:blipFill>
        <p:spPr>
          <a:xfrm>
            <a:off x="1123651" y="298622"/>
            <a:ext cx="6896698" cy="1889924"/>
          </a:xfrm>
          <a:prstGeom prst="rect">
            <a:avLst/>
          </a:prstGeom>
        </p:spPr>
      </p:pic>
      <p:pic>
        <p:nvPicPr>
          <p:cNvPr id="5" name="Image 4">
            <a:extLst>
              <a:ext uri="{FF2B5EF4-FFF2-40B4-BE49-F238E27FC236}">
                <a16:creationId xmlns:a16="http://schemas.microsoft.com/office/drawing/2014/main" id="{972349BA-6CFB-0FE1-1752-3F8BA4751260}"/>
              </a:ext>
            </a:extLst>
          </p:cNvPr>
          <p:cNvPicPr>
            <a:picLocks noChangeAspect="1"/>
          </p:cNvPicPr>
          <p:nvPr/>
        </p:nvPicPr>
        <p:blipFill>
          <a:blip r:embed="rId3"/>
          <a:stretch>
            <a:fillRect/>
          </a:stretch>
        </p:blipFill>
        <p:spPr>
          <a:xfrm>
            <a:off x="2326960" y="2313432"/>
            <a:ext cx="4343776" cy="4245946"/>
          </a:xfrm>
          <a:prstGeom prst="rect">
            <a:avLst/>
          </a:prstGeom>
        </p:spPr>
      </p:pic>
    </p:spTree>
    <p:extLst>
      <p:ext uri="{BB962C8B-B14F-4D97-AF65-F5344CB8AC3E}">
        <p14:creationId xmlns:p14="http://schemas.microsoft.com/office/powerpoint/2010/main" val="13656994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rdoise">
  <a:themeElements>
    <a:clrScheme name="Ardois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Ardois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rdois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Metadata/LabelInfo.xml><?xml version="1.0" encoding="utf-8"?>
<clbl:labelList xmlns:clbl="http://schemas.microsoft.com/office/2020/mipLabelMetadata">
  <clbl:label id="{e6c818a6-e1a0-4a6e-a969-20d857c5dc62}" enabled="1" method="Standard" siteId="{90c7a20a-f34b-40bf-bc48-b9253b6f5d20}" contentBits="2" removed="0"/>
</clbl:labelList>
</file>

<file path=docProps/app.xml><?xml version="1.0" encoding="utf-8"?>
<Properties xmlns="http://schemas.openxmlformats.org/officeDocument/2006/extended-properties" xmlns:vt="http://schemas.openxmlformats.org/officeDocument/2006/docPropsVTypes">
  <Template>Ardoise</Template>
  <TotalTime>747</TotalTime>
  <Words>1153</Words>
  <Application>Microsoft Office PowerPoint</Application>
  <PresentationFormat>Affichage à l'écran (4:3)</PresentationFormat>
  <Paragraphs>117</Paragraphs>
  <Slides>34</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34</vt:i4>
      </vt:variant>
    </vt:vector>
  </HeadingPairs>
  <TitlesOfParts>
    <vt:vector size="41" baseType="lpstr">
      <vt:lpstr>Aptos</vt:lpstr>
      <vt:lpstr>Calisto MT</vt:lpstr>
      <vt:lpstr>Courier New</vt:lpstr>
      <vt:lpstr>Helvetica 75 Bold</vt:lpstr>
      <vt:lpstr>Symbol</vt:lpstr>
      <vt:lpstr>Wingdings 2</vt:lpstr>
      <vt:lpstr>Ardoise</vt:lpstr>
      <vt:lpstr>Créez et utilisez une base de données immobilière avec SQL</vt:lpstr>
      <vt:lpstr>Contexte du projet</vt:lpstr>
      <vt:lpstr>Présentation PowerPoint</vt:lpstr>
      <vt:lpstr>Stratégie de sauvegarde &amp; conformité RGPD</vt:lpstr>
      <vt:lpstr>Extrait du dictionnaire des données</vt:lpstr>
      <vt:lpstr>Schéma relationnel normalisé (3NF)</vt:lpstr>
      <vt:lpstr>Base de données</vt:lpstr>
      <vt:lpstr>Présentation PowerPoint</vt:lpstr>
      <vt:lpstr>Présentation PowerPoint</vt:lpstr>
      <vt:lpstr>Présentation PowerPoint</vt:lpstr>
      <vt:lpstr>Présentation PowerPoint</vt:lpstr>
      <vt:lpstr>Présentation PowerPoint</vt:lpstr>
      <vt:lpstr>Requêtes SQL &amp; résultats</vt:lpstr>
      <vt:lpstr>Requêtes SQL &amp; résultats</vt:lpstr>
      <vt:lpstr>Présentation PowerPoint</vt:lpstr>
      <vt:lpstr>Requêtes SQL &amp; résultats</vt:lpstr>
      <vt:lpstr>Présentation PowerPoint</vt:lpstr>
      <vt:lpstr>Requêtes SQL &amp; résultats</vt:lpstr>
      <vt:lpstr>Présentation PowerPoint</vt:lpstr>
      <vt:lpstr>Requêtes SQL &amp; résultats</vt:lpstr>
      <vt:lpstr>Requêtes SQL &amp; résultats</vt:lpstr>
      <vt:lpstr>Présentation PowerPoint</vt:lpstr>
      <vt:lpstr>Requêtes SQL &amp; résultats</vt:lpstr>
      <vt:lpstr>Requêtes SQL &amp; résultats</vt:lpstr>
      <vt:lpstr>Présentation PowerPoint</vt:lpstr>
      <vt:lpstr>Requêtes SQL &amp; résultats</vt:lpstr>
      <vt:lpstr>Présentation PowerPoint</vt:lpstr>
      <vt:lpstr>Requêtes SQL &amp; résultats</vt:lpstr>
      <vt:lpstr>Présentation PowerPoint</vt:lpstr>
      <vt:lpstr>Requêtes SQL &amp; résultats</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Créez et utilisez une base de données immobilière avec SQL</dc:title>
  <dc:subject/>
  <dc:creator/>
  <cp:keywords/>
  <dc:description>generated using python-pptx</dc:description>
  <cp:lastModifiedBy>ZAIDI Mohamed Hichem OW/FINANCE</cp:lastModifiedBy>
  <cp:revision>84</cp:revision>
  <dcterms:created xsi:type="dcterms:W3CDTF">2013-01-27T09:14:16Z</dcterms:created>
  <dcterms:modified xsi:type="dcterms:W3CDTF">2025-07-29T08:41:59Z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Ardoise:8</vt:lpwstr>
  </property>
  <property fmtid="{D5CDD505-2E9C-101B-9397-08002B2CF9AE}" pid="3" name="ClassificationContentMarkingFooterText">
    <vt:lpwstr>Orange Restricted</vt:lpwstr>
  </property>
</Properties>
</file>